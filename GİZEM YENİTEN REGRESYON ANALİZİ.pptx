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69" r:id="rId2"/>
  </p:sldMasterIdLst>
  <p:sldIdLst>
    <p:sldId id="277" r:id="rId3"/>
    <p:sldId id="257" r:id="rId4"/>
    <p:sldId id="262" r:id="rId5"/>
    <p:sldId id="261" r:id="rId6"/>
    <p:sldId id="263" r:id="rId7"/>
    <p:sldId id="264" r:id="rId8"/>
    <p:sldId id="279" r:id="rId9"/>
    <p:sldId id="280" r:id="rId10"/>
    <p:sldId id="281" r:id="rId11"/>
    <p:sldId id="265" r:id="rId12"/>
    <p:sldId id="282" r:id="rId13"/>
    <p:sldId id="283" r:id="rId14"/>
    <p:sldId id="284" r:id="rId15"/>
    <p:sldId id="285" r:id="rId16"/>
    <p:sldId id="286" r:id="rId17"/>
    <p:sldId id="266" r:id="rId18"/>
    <p:sldId id="267" r:id="rId19"/>
    <p:sldId id="287" r:id="rId20"/>
    <p:sldId id="268" r:id="rId21"/>
    <p:sldId id="269" r:id="rId22"/>
    <p:sldId id="270" r:id="rId23"/>
    <p:sldId id="258" r:id="rId2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7F1FB7F7-70A1-4796-B76D-DC78262D2AE8}">
          <p14:sldIdLst>
            <p14:sldId id="277"/>
            <p14:sldId id="257"/>
            <p14:sldId id="262"/>
            <p14:sldId id="261"/>
            <p14:sldId id="263"/>
            <p14:sldId id="264"/>
            <p14:sldId id="279"/>
            <p14:sldId id="280"/>
            <p14:sldId id="281"/>
            <p14:sldId id="265"/>
            <p14:sldId id="282"/>
            <p14:sldId id="283"/>
            <p14:sldId id="284"/>
            <p14:sldId id="285"/>
            <p14:sldId id="286"/>
            <p14:sldId id="266"/>
            <p14:sldId id="267"/>
            <p14:sldId id="287"/>
            <p14:sldId id="268"/>
            <p14:sldId id="269"/>
            <p14:sldId id="27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r-TR" sz="1600" b="1" dirty="0">
                <a:solidFill>
                  <a:srgbClr val="002060"/>
                </a:solidFill>
              </a:rPr>
              <a:t>İHRACAT</a:t>
            </a:r>
            <a:r>
              <a:rPr lang="tr-TR" sz="1600" b="1" baseline="0" dirty="0">
                <a:solidFill>
                  <a:srgbClr val="002060"/>
                </a:solidFill>
              </a:rPr>
              <a:t> VE İSTİHDAM VERİLERİNİN ZAMANA GÖRE DEĞİŞİMİ</a:t>
            </a:r>
            <a:endParaRPr lang="tr-TR" sz="1600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istihdam!$B$1</c:f>
              <c:strCache>
                <c:ptCount val="1"/>
                <c:pt idx="0">
                  <c:v>İHRACAT(Y)</c:v>
                </c:pt>
              </c:strCache>
            </c:strRef>
          </c:tx>
          <c:spPr>
            <a:solidFill>
              <a:srgbClr val="A00000"/>
            </a:solidFill>
            <a:ln>
              <a:noFill/>
            </a:ln>
            <a:effectLst/>
          </c:spPr>
          <c:invertIfNegative val="0"/>
          <c:val>
            <c:numRef>
              <c:f>istihdam!$B$2:$B$13</c:f>
              <c:numCache>
                <c:formatCode>General</c:formatCode>
                <c:ptCount val="12"/>
                <c:pt idx="0">
                  <c:v>7701394.4937400008</c:v>
                </c:pt>
                <c:pt idx="1">
                  <c:v>7957871.0367999999</c:v>
                </c:pt>
                <c:pt idx="2">
                  <c:v>7493974.2917999998</c:v>
                </c:pt>
                <c:pt idx="3">
                  <c:v>7040973.6262999997</c:v>
                </c:pt>
                <c:pt idx="4">
                  <c:v>7525033.21135002</c:v>
                </c:pt>
                <c:pt idx="5">
                  <c:v>8146597.5501100197</c:v>
                </c:pt>
                <c:pt idx="6">
                  <c:v>7978058.6118500009</c:v>
                </c:pt>
                <c:pt idx="7">
                  <c:v>7727403.1752699995</c:v>
                </c:pt>
                <c:pt idx="8">
                  <c:v>9754597.7190499995</c:v>
                </c:pt>
                <c:pt idx="9">
                  <c:v>11430682.02496</c:v>
                </c:pt>
                <c:pt idx="10">
                  <c:v>12477468.601177702</c:v>
                </c:pt>
                <c:pt idx="11">
                  <c:v>11993085.72816278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B4-4F27-BDDA-0FB089EC6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1173520"/>
        <c:axId val="1701186000"/>
      </c:barChart>
      <c:lineChart>
        <c:grouping val="standard"/>
        <c:varyColors val="0"/>
        <c:ser>
          <c:idx val="1"/>
          <c:order val="1"/>
          <c:tx>
            <c:strRef>
              <c:f>istihdam!$C$1</c:f>
              <c:strCache>
                <c:ptCount val="1"/>
                <c:pt idx="0">
                  <c:v>İSTİHDAM(X1)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istihdam!$C$2:$C$13</c:f>
              <c:numCache>
                <c:formatCode>#,##0</c:formatCode>
                <c:ptCount val="12"/>
                <c:pt idx="0">
                  <c:v>57010</c:v>
                </c:pt>
                <c:pt idx="1">
                  <c:v>61505</c:v>
                </c:pt>
                <c:pt idx="2">
                  <c:v>62234</c:v>
                </c:pt>
                <c:pt idx="3">
                  <c:v>66095</c:v>
                </c:pt>
                <c:pt idx="4">
                  <c:v>66984</c:v>
                </c:pt>
                <c:pt idx="5">
                  <c:v>70808</c:v>
                </c:pt>
                <c:pt idx="6">
                  <c:v>74214</c:v>
                </c:pt>
                <c:pt idx="7">
                  <c:v>79553</c:v>
                </c:pt>
                <c:pt idx="8">
                  <c:v>85248</c:v>
                </c:pt>
                <c:pt idx="9">
                  <c:v>91303</c:v>
                </c:pt>
                <c:pt idx="10">
                  <c:v>99023</c:v>
                </c:pt>
                <c:pt idx="11">
                  <c:v>96436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B4-4F27-BDDA-0FB089EC6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1190320"/>
        <c:axId val="1701165360"/>
      </c:lineChart>
      <c:catAx>
        <c:axId val="1701173520"/>
        <c:scaling>
          <c:orientation val="minMax"/>
        </c:scaling>
        <c:delete val="1"/>
        <c:axPos val="b"/>
        <c:majorTickMark val="none"/>
        <c:minorTickMark val="none"/>
        <c:tickLblPos val="nextTo"/>
        <c:crossAx val="1701186000"/>
        <c:crosses val="autoZero"/>
        <c:auto val="1"/>
        <c:lblAlgn val="ctr"/>
        <c:lblOffset val="100"/>
        <c:noMultiLvlLbl val="0"/>
      </c:catAx>
      <c:valAx>
        <c:axId val="170118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1701173520"/>
        <c:crosses val="autoZero"/>
        <c:crossBetween val="between"/>
      </c:valAx>
      <c:valAx>
        <c:axId val="1701165360"/>
        <c:scaling>
          <c:orientation val="minMax"/>
        </c:scaling>
        <c:delete val="0"/>
        <c:axPos val="r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1701190320"/>
        <c:crosses val="max"/>
        <c:crossBetween val="between"/>
      </c:valAx>
      <c:catAx>
        <c:axId val="1701190320"/>
        <c:scaling>
          <c:orientation val="minMax"/>
        </c:scaling>
        <c:delete val="1"/>
        <c:axPos val="b"/>
        <c:majorTickMark val="none"/>
        <c:minorTickMark val="none"/>
        <c:tickLblPos val="nextTo"/>
        <c:crossAx val="1701165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700794321786735"/>
          <c:y val="0.93650824687109502"/>
          <c:w val="0.38879998016620859"/>
          <c:h val="6.3491753128905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r-TR" sz="1600" b="1" baseline="0" dirty="0">
                <a:solidFill>
                  <a:srgbClr val="002060"/>
                </a:solidFill>
              </a:rPr>
              <a:t> İHRACAT VE YURT DIŞINDAN BÖLGEYE SATIŞ VERİLERİNİN ZAMANA GÖRE DAĞILIMI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'yurtdışından bölgeye'!$B$1</c:f>
              <c:strCache>
                <c:ptCount val="1"/>
                <c:pt idx="0">
                  <c:v>İHRACAT(Y)</c:v>
                </c:pt>
              </c:strCache>
            </c:strRef>
          </c:tx>
          <c:spPr>
            <a:solidFill>
              <a:srgbClr val="A00000"/>
            </a:solidFill>
            <a:ln>
              <a:noFill/>
            </a:ln>
            <a:effectLst/>
          </c:spPr>
          <c:invertIfNegative val="0"/>
          <c:val>
            <c:numRef>
              <c:f>'yurtdışından bölgeye'!$B$2:$B$13</c:f>
              <c:numCache>
                <c:formatCode>General</c:formatCode>
                <c:ptCount val="12"/>
                <c:pt idx="0">
                  <c:v>7701394.4937400008</c:v>
                </c:pt>
                <c:pt idx="1">
                  <c:v>7957871.0367999999</c:v>
                </c:pt>
                <c:pt idx="2">
                  <c:v>7493974.2917999998</c:v>
                </c:pt>
                <c:pt idx="3">
                  <c:v>7040973.6262999997</c:v>
                </c:pt>
                <c:pt idx="4">
                  <c:v>7525033.21135002</c:v>
                </c:pt>
                <c:pt idx="5">
                  <c:v>8146597.5501100197</c:v>
                </c:pt>
                <c:pt idx="6">
                  <c:v>7978058.6118500009</c:v>
                </c:pt>
                <c:pt idx="7">
                  <c:v>7727403.1752699995</c:v>
                </c:pt>
                <c:pt idx="8">
                  <c:v>9754597.7190499995</c:v>
                </c:pt>
                <c:pt idx="9">
                  <c:v>11430682.02496</c:v>
                </c:pt>
                <c:pt idx="10">
                  <c:v>12477468.601177702</c:v>
                </c:pt>
                <c:pt idx="11">
                  <c:v>11993085.72816278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D0-4A58-A9CA-CB86BAA3BD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2030335"/>
        <c:axId val="492033695"/>
      </c:barChart>
      <c:lineChart>
        <c:grouping val="standard"/>
        <c:varyColors val="0"/>
        <c:ser>
          <c:idx val="1"/>
          <c:order val="1"/>
          <c:tx>
            <c:strRef>
              <c:f>'yurtdışından bölgeye'!$C$1</c:f>
              <c:strCache>
                <c:ptCount val="1"/>
                <c:pt idx="0">
                  <c:v>YB(X2)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'yurtdışından bölgeye'!$C$2:$C$13</c:f>
              <c:numCache>
                <c:formatCode>#,##0</c:formatCode>
                <c:ptCount val="12"/>
                <c:pt idx="0">
                  <c:v>7490099.8518000012</c:v>
                </c:pt>
                <c:pt idx="1">
                  <c:v>7058602.8553399993</c:v>
                </c:pt>
                <c:pt idx="2">
                  <c:v>6564732.7385300016</c:v>
                </c:pt>
                <c:pt idx="3">
                  <c:v>5867525.0545800012</c:v>
                </c:pt>
                <c:pt idx="4">
                  <c:v>6403523.7497008238</c:v>
                </c:pt>
                <c:pt idx="5">
                  <c:v>6452566.5587713141</c:v>
                </c:pt>
                <c:pt idx="6">
                  <c:v>5632877.9228099994</c:v>
                </c:pt>
                <c:pt idx="7">
                  <c:v>7028096.4914500006</c:v>
                </c:pt>
                <c:pt idx="8">
                  <c:v>7072638.4007600006</c:v>
                </c:pt>
                <c:pt idx="9">
                  <c:v>11154606.13583</c:v>
                </c:pt>
                <c:pt idx="10">
                  <c:v>9278102.4436499998</c:v>
                </c:pt>
                <c:pt idx="11">
                  <c:v>7901227.5873945756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D0-4A58-A9CA-CB86BAA3BD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8959023"/>
        <c:axId val="458958063"/>
      </c:lineChart>
      <c:catAx>
        <c:axId val="492030335"/>
        <c:scaling>
          <c:orientation val="minMax"/>
        </c:scaling>
        <c:delete val="1"/>
        <c:axPos val="b"/>
        <c:majorTickMark val="none"/>
        <c:minorTickMark val="none"/>
        <c:tickLblPos val="nextTo"/>
        <c:crossAx val="492033695"/>
        <c:crosses val="autoZero"/>
        <c:auto val="1"/>
        <c:lblAlgn val="ctr"/>
        <c:lblOffset val="100"/>
        <c:noMultiLvlLbl val="0"/>
      </c:catAx>
      <c:valAx>
        <c:axId val="492033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92030335"/>
        <c:crosses val="autoZero"/>
        <c:crossBetween val="between"/>
      </c:valAx>
      <c:valAx>
        <c:axId val="458958063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58959023"/>
        <c:crosses val="max"/>
        <c:crossBetween val="between"/>
      </c:valAx>
      <c:catAx>
        <c:axId val="458959023"/>
        <c:scaling>
          <c:orientation val="minMax"/>
        </c:scaling>
        <c:delete val="1"/>
        <c:axPos val="b"/>
        <c:majorTickMark val="out"/>
        <c:minorTickMark val="none"/>
        <c:tickLblPos val="nextTo"/>
        <c:crossAx val="4589580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299046470459627"/>
          <c:y val="0.92403276599419282"/>
          <c:w val="0.32297604186502477"/>
          <c:h val="6.50368205751118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2060"/>
              </a:solidFill>
              <a:latin typeface="Myriad Pro" panose="020B0503030403020204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r>
              <a:rPr lang="en-US" sz="1600" b="1" dirty="0">
                <a:solidFill>
                  <a:srgbClr val="002060"/>
                </a:solidFill>
                <a:latin typeface="Myriad Pro" panose="020B0503030403020204"/>
              </a:rPr>
              <a:t>İHRACAT VE T</a:t>
            </a:r>
            <a:r>
              <a:rPr lang="tr-TR" sz="1600" b="1" dirty="0">
                <a:solidFill>
                  <a:srgbClr val="002060"/>
                </a:solidFill>
                <a:latin typeface="Myriad Pro" panose="020B0503030403020204"/>
              </a:rPr>
              <a:t>ÜRKİYEDEN</a:t>
            </a:r>
            <a:r>
              <a:rPr lang="tr-TR" sz="1600" b="1" baseline="0" dirty="0">
                <a:solidFill>
                  <a:srgbClr val="002060"/>
                </a:solidFill>
                <a:latin typeface="Myriad Pro" panose="020B0503030403020204"/>
              </a:rPr>
              <a:t> BÖLGEYE SATIŞ</a:t>
            </a:r>
            <a:r>
              <a:rPr lang="en-US" sz="1600" b="1" dirty="0">
                <a:solidFill>
                  <a:srgbClr val="002060"/>
                </a:solidFill>
                <a:latin typeface="Myriad Pro" panose="020B0503030403020204"/>
              </a:rPr>
              <a:t> VERİLERİNİN </a:t>
            </a:r>
            <a:r>
              <a:rPr lang="tr-TR" sz="1600" b="1" dirty="0">
                <a:solidFill>
                  <a:srgbClr val="002060"/>
                </a:solidFill>
                <a:latin typeface="Myriad Pro" panose="020B0503030403020204"/>
              </a:rPr>
              <a:t>ZAMANA GÖRE </a:t>
            </a:r>
            <a:r>
              <a:rPr lang="en-US" sz="1600" b="1" dirty="0">
                <a:solidFill>
                  <a:srgbClr val="002060"/>
                </a:solidFill>
                <a:latin typeface="Myriad Pro" panose="020B0503030403020204"/>
              </a:rPr>
              <a:t>DAĞILIMI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002060"/>
              </a:solidFill>
              <a:latin typeface="Myriad Pro" panose="020B0503030403020204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'türkiyeden bölgeye'!$B$1</c:f>
              <c:strCache>
                <c:ptCount val="1"/>
                <c:pt idx="0">
                  <c:v>İHRACAT(Y)</c:v>
                </c:pt>
              </c:strCache>
            </c:strRef>
          </c:tx>
          <c:spPr>
            <a:solidFill>
              <a:srgbClr val="A00000"/>
            </a:solidFill>
            <a:ln>
              <a:noFill/>
            </a:ln>
            <a:effectLst/>
          </c:spPr>
          <c:invertIfNegative val="0"/>
          <c:val>
            <c:numRef>
              <c:f>'türkiyeden bölgeye'!$B$2:$B$13</c:f>
              <c:numCache>
                <c:formatCode>General</c:formatCode>
                <c:ptCount val="12"/>
                <c:pt idx="0">
                  <c:v>7701394.4937400008</c:v>
                </c:pt>
                <c:pt idx="1">
                  <c:v>7957871.0367999999</c:v>
                </c:pt>
                <c:pt idx="2">
                  <c:v>7493974.2917999998</c:v>
                </c:pt>
                <c:pt idx="3">
                  <c:v>7040973.6262999997</c:v>
                </c:pt>
                <c:pt idx="4">
                  <c:v>7525033.21135002</c:v>
                </c:pt>
                <c:pt idx="5">
                  <c:v>8146597.5501100197</c:v>
                </c:pt>
                <c:pt idx="6">
                  <c:v>7978058.6118500009</c:v>
                </c:pt>
                <c:pt idx="7">
                  <c:v>7727403.1752699995</c:v>
                </c:pt>
                <c:pt idx="8">
                  <c:v>9754597.7190499995</c:v>
                </c:pt>
                <c:pt idx="9">
                  <c:v>11430682.02496</c:v>
                </c:pt>
                <c:pt idx="10">
                  <c:v>12477468.601177702</c:v>
                </c:pt>
                <c:pt idx="11">
                  <c:v>11993085.72816278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3B-4E2D-95F3-8432AEE90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4013679"/>
        <c:axId val="484015119"/>
      </c:barChart>
      <c:lineChart>
        <c:grouping val="standard"/>
        <c:varyColors val="0"/>
        <c:ser>
          <c:idx val="1"/>
          <c:order val="1"/>
          <c:tx>
            <c:strRef>
              <c:f>'türkiyeden bölgeye'!$C$1</c:f>
              <c:strCache>
                <c:ptCount val="1"/>
                <c:pt idx="0">
                  <c:v>TB(X3)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'türkiyeden bölgeye'!$C$2:$C$13</c:f>
              <c:numCache>
                <c:formatCode>#,##0</c:formatCode>
                <c:ptCount val="12"/>
                <c:pt idx="0">
                  <c:v>2886928.601689999</c:v>
                </c:pt>
                <c:pt idx="1">
                  <c:v>2732525.9134300007</c:v>
                </c:pt>
                <c:pt idx="2">
                  <c:v>2205126.2616299996</c:v>
                </c:pt>
                <c:pt idx="3">
                  <c:v>2125130.8344900003</c:v>
                </c:pt>
                <c:pt idx="4">
                  <c:v>2374514.3736649593</c:v>
                </c:pt>
                <c:pt idx="5">
                  <c:v>2563422.1653988617</c:v>
                </c:pt>
                <c:pt idx="6">
                  <c:v>2665482.4580700002</c:v>
                </c:pt>
                <c:pt idx="7">
                  <c:v>2573562.8171400004</c:v>
                </c:pt>
                <c:pt idx="8">
                  <c:v>3465627.20566</c:v>
                </c:pt>
                <c:pt idx="9">
                  <c:v>3807789.7663300005</c:v>
                </c:pt>
                <c:pt idx="10">
                  <c:v>3869632.517810001</c:v>
                </c:pt>
                <c:pt idx="11">
                  <c:v>3617399.3849170813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3B-4E2D-95F3-8432AEE90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14879"/>
        <c:axId val="496506719"/>
      </c:lineChart>
      <c:catAx>
        <c:axId val="484013679"/>
        <c:scaling>
          <c:orientation val="minMax"/>
        </c:scaling>
        <c:delete val="1"/>
        <c:axPos val="b"/>
        <c:majorTickMark val="none"/>
        <c:minorTickMark val="none"/>
        <c:tickLblPos val="nextTo"/>
        <c:crossAx val="484015119"/>
        <c:crosses val="autoZero"/>
        <c:auto val="1"/>
        <c:lblAlgn val="ctr"/>
        <c:lblOffset val="100"/>
        <c:noMultiLvlLbl val="0"/>
      </c:catAx>
      <c:valAx>
        <c:axId val="484015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84013679"/>
        <c:crosses val="autoZero"/>
        <c:crossBetween val="between"/>
      </c:valAx>
      <c:valAx>
        <c:axId val="496506719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96514879"/>
        <c:crosses val="max"/>
        <c:crossBetween val="between"/>
      </c:valAx>
      <c:catAx>
        <c:axId val="496514879"/>
        <c:scaling>
          <c:orientation val="minMax"/>
        </c:scaling>
        <c:delete val="1"/>
        <c:axPos val="b"/>
        <c:majorTickMark val="out"/>
        <c:minorTickMark val="none"/>
        <c:tickLblPos val="nextTo"/>
        <c:crossAx val="4965067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673800842008845"/>
          <c:y val="0.93835573293064389"/>
          <c:w val="0.30652398315982315"/>
          <c:h val="6.16442670693560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r>
              <a:rPr lang="en-US" sz="1600" b="1" dirty="0">
                <a:solidFill>
                  <a:srgbClr val="002060"/>
                </a:solidFill>
                <a:latin typeface="Myriad Pro" panose="020B0503030403020204"/>
              </a:rPr>
              <a:t>İHRACAT VE FAALİYET RUHSAT SAYISININ ZAMANA GÖRE DAĞILIMI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002060"/>
              </a:solidFill>
              <a:latin typeface="Myriad Pro" panose="020B0503030403020204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FRSüretim!$B$1</c:f>
              <c:strCache>
                <c:ptCount val="1"/>
                <c:pt idx="0">
                  <c:v>İHRACAT(Y)</c:v>
                </c:pt>
              </c:strCache>
            </c:strRef>
          </c:tx>
          <c:spPr>
            <a:solidFill>
              <a:srgbClr val="A00000"/>
            </a:solidFill>
            <a:ln>
              <a:noFill/>
            </a:ln>
            <a:effectLst/>
          </c:spPr>
          <c:invertIfNegative val="0"/>
          <c:val>
            <c:numRef>
              <c:f>FRSüretim!$B$2:$B$13</c:f>
              <c:numCache>
                <c:formatCode>General</c:formatCode>
                <c:ptCount val="12"/>
                <c:pt idx="0">
                  <c:v>7701394.4937400008</c:v>
                </c:pt>
                <c:pt idx="1">
                  <c:v>7957871.0367999999</c:v>
                </c:pt>
                <c:pt idx="2">
                  <c:v>7493974.2917999998</c:v>
                </c:pt>
                <c:pt idx="3">
                  <c:v>7040973.6262999997</c:v>
                </c:pt>
                <c:pt idx="4">
                  <c:v>7525033.21135002</c:v>
                </c:pt>
                <c:pt idx="5">
                  <c:v>8146597.5501100197</c:v>
                </c:pt>
                <c:pt idx="6">
                  <c:v>7978058.6118500009</c:v>
                </c:pt>
                <c:pt idx="7">
                  <c:v>7727403.1752699995</c:v>
                </c:pt>
                <c:pt idx="8">
                  <c:v>9754597.7190499995</c:v>
                </c:pt>
                <c:pt idx="9">
                  <c:v>11430682.02496</c:v>
                </c:pt>
                <c:pt idx="10">
                  <c:v>12477468.601177702</c:v>
                </c:pt>
                <c:pt idx="11">
                  <c:v>11993085.72816278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8-4565-9BC8-7D9239581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6516799"/>
        <c:axId val="496520159"/>
      </c:barChart>
      <c:lineChart>
        <c:grouping val="standard"/>
        <c:varyColors val="0"/>
        <c:ser>
          <c:idx val="1"/>
          <c:order val="1"/>
          <c:tx>
            <c:strRef>
              <c:f>FRSüretim!$C$1</c:f>
              <c:strCache>
                <c:ptCount val="1"/>
                <c:pt idx="0">
                  <c:v>FRSüretim(X4)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FRSüretim!$C$2:$C$13</c:f>
              <c:numCache>
                <c:formatCode>#,##0</c:formatCode>
                <c:ptCount val="12"/>
                <c:pt idx="0">
                  <c:v>928</c:v>
                </c:pt>
                <c:pt idx="1">
                  <c:v>928</c:v>
                </c:pt>
                <c:pt idx="2">
                  <c:v>941</c:v>
                </c:pt>
                <c:pt idx="3">
                  <c:v>956</c:v>
                </c:pt>
                <c:pt idx="4">
                  <c:v>964</c:v>
                </c:pt>
                <c:pt idx="5">
                  <c:v>964</c:v>
                </c:pt>
                <c:pt idx="6">
                  <c:v>985</c:v>
                </c:pt>
                <c:pt idx="7">
                  <c:v>1044</c:v>
                </c:pt>
                <c:pt idx="8">
                  <c:v>1115</c:v>
                </c:pt>
                <c:pt idx="9" formatCode="General">
                  <c:v>1209</c:v>
                </c:pt>
                <c:pt idx="10">
                  <c:v>1285</c:v>
                </c:pt>
                <c:pt idx="11">
                  <c:v>1291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F8-4565-9BC8-7D9239581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530719"/>
        <c:axId val="496515359"/>
      </c:lineChart>
      <c:catAx>
        <c:axId val="496516799"/>
        <c:scaling>
          <c:orientation val="minMax"/>
        </c:scaling>
        <c:delete val="1"/>
        <c:axPos val="b"/>
        <c:majorTickMark val="none"/>
        <c:minorTickMark val="none"/>
        <c:tickLblPos val="nextTo"/>
        <c:crossAx val="496520159"/>
        <c:crosses val="autoZero"/>
        <c:auto val="1"/>
        <c:lblAlgn val="ctr"/>
        <c:lblOffset val="100"/>
        <c:noMultiLvlLbl val="0"/>
      </c:catAx>
      <c:valAx>
        <c:axId val="496520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96516799"/>
        <c:crosses val="autoZero"/>
        <c:crossBetween val="between"/>
      </c:valAx>
      <c:valAx>
        <c:axId val="496515359"/>
        <c:scaling>
          <c:orientation val="minMax"/>
        </c:scaling>
        <c:delete val="0"/>
        <c:axPos val="r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96530719"/>
        <c:crosses val="max"/>
        <c:crossBetween val="between"/>
      </c:valAx>
      <c:catAx>
        <c:axId val="496530719"/>
        <c:scaling>
          <c:orientation val="minMax"/>
        </c:scaling>
        <c:delete val="1"/>
        <c:axPos val="b"/>
        <c:majorTickMark val="none"/>
        <c:minorTickMark val="none"/>
        <c:tickLblPos val="nextTo"/>
        <c:crossAx val="4965153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yriD PRO"/>
                <a:ea typeface="+mn-ea"/>
                <a:cs typeface="+mn-cs"/>
              </a:defRPr>
            </a:pPr>
            <a:r>
              <a:rPr lang="en-US" sz="1600" b="1" dirty="0">
                <a:solidFill>
                  <a:srgbClr val="002060"/>
                </a:solidFill>
                <a:latin typeface="Myriad Pro" panose="020B0503030403020204"/>
              </a:rPr>
              <a:t>İHRACAT VE TİCARET HACMİNİN ZAMANA GÖRE D</a:t>
            </a:r>
            <a:r>
              <a:rPr lang="tr-TR" sz="1600" b="1" dirty="0">
                <a:solidFill>
                  <a:srgbClr val="002060"/>
                </a:solidFill>
                <a:latin typeface="Myriad Pro" panose="020B0503030403020204"/>
              </a:rPr>
              <a:t>AĞILIMI</a:t>
            </a:r>
            <a:endParaRPr lang="en-US" sz="1600" b="1" dirty="0">
              <a:solidFill>
                <a:srgbClr val="002060"/>
              </a:solidFill>
              <a:latin typeface="Myriad Pro" panose="020B0503030403020204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yriD PRO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'ticaret hacmi'!$B$1</c:f>
              <c:strCache>
                <c:ptCount val="1"/>
                <c:pt idx="0">
                  <c:v>İHRACAT(Y)</c:v>
                </c:pt>
              </c:strCache>
            </c:strRef>
          </c:tx>
          <c:spPr>
            <a:solidFill>
              <a:srgbClr val="A00000"/>
            </a:solidFill>
            <a:ln>
              <a:noFill/>
            </a:ln>
            <a:effectLst/>
          </c:spPr>
          <c:invertIfNegative val="0"/>
          <c:val>
            <c:numRef>
              <c:f>'ticaret hacmi'!$B$2:$B$13</c:f>
              <c:numCache>
                <c:formatCode>General</c:formatCode>
                <c:ptCount val="12"/>
                <c:pt idx="0">
                  <c:v>7701394.4937400008</c:v>
                </c:pt>
                <c:pt idx="1">
                  <c:v>7957871.0367999999</c:v>
                </c:pt>
                <c:pt idx="2">
                  <c:v>7493974.2917999998</c:v>
                </c:pt>
                <c:pt idx="3">
                  <c:v>7040973.6262999997</c:v>
                </c:pt>
                <c:pt idx="4">
                  <c:v>7525033.21135002</c:v>
                </c:pt>
                <c:pt idx="5">
                  <c:v>8146597.5501100197</c:v>
                </c:pt>
                <c:pt idx="6">
                  <c:v>7978058.6118500009</c:v>
                </c:pt>
                <c:pt idx="7">
                  <c:v>7727403.1752699995</c:v>
                </c:pt>
                <c:pt idx="8">
                  <c:v>9754597.7190499995</c:v>
                </c:pt>
                <c:pt idx="9">
                  <c:v>11430682.02496</c:v>
                </c:pt>
                <c:pt idx="10">
                  <c:v>12477468.601177702</c:v>
                </c:pt>
                <c:pt idx="11">
                  <c:v>11993085.72816278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84-4B25-8FFA-68759A2AB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3402959"/>
        <c:axId val="483404879"/>
      </c:barChart>
      <c:lineChart>
        <c:grouping val="standard"/>
        <c:varyColors val="0"/>
        <c:ser>
          <c:idx val="1"/>
          <c:order val="1"/>
          <c:tx>
            <c:strRef>
              <c:f>'ticaret hacmi'!$C$1</c:f>
              <c:strCache>
                <c:ptCount val="1"/>
                <c:pt idx="0">
                  <c:v>TİCARET HACMİ(X5)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val>
            <c:numRef>
              <c:f>'ticaret hacmi'!$C$2:$C$13</c:f>
              <c:numCache>
                <c:formatCode>#,##0</c:formatCode>
                <c:ptCount val="12"/>
                <c:pt idx="0">
                  <c:v>23240397.084969997</c:v>
                </c:pt>
                <c:pt idx="1">
                  <c:v>22432242.101210002</c:v>
                </c:pt>
                <c:pt idx="2">
                  <c:v>20290977.592669997</c:v>
                </c:pt>
                <c:pt idx="3">
                  <c:v>19033079.379049998</c:v>
                </c:pt>
                <c:pt idx="4">
                  <c:v>20376274.003031563</c:v>
                </c:pt>
                <c:pt idx="5">
                  <c:v>20928896.229480352</c:v>
                </c:pt>
                <c:pt idx="6">
                  <c:v>19655909.984030001</c:v>
                </c:pt>
                <c:pt idx="7">
                  <c:v>22057997.933849994</c:v>
                </c:pt>
                <c:pt idx="8">
                  <c:v>24618099.078500003</c:v>
                </c:pt>
                <c:pt idx="9">
                  <c:v>32822887.124609999</c:v>
                </c:pt>
                <c:pt idx="10">
                  <c:v>30687832.299089365</c:v>
                </c:pt>
                <c:pt idx="11">
                  <c:v>27691432.696407616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84-4B25-8FFA-68759A2AB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3402479"/>
        <c:axId val="483404399"/>
      </c:lineChart>
      <c:catAx>
        <c:axId val="483402959"/>
        <c:scaling>
          <c:orientation val="minMax"/>
        </c:scaling>
        <c:delete val="1"/>
        <c:axPos val="b"/>
        <c:majorTickMark val="none"/>
        <c:minorTickMark val="none"/>
        <c:tickLblPos val="nextTo"/>
        <c:crossAx val="483404879"/>
        <c:crosses val="autoZero"/>
        <c:auto val="1"/>
        <c:lblAlgn val="ctr"/>
        <c:lblOffset val="100"/>
        <c:noMultiLvlLbl val="0"/>
      </c:catAx>
      <c:valAx>
        <c:axId val="483404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solidFill>
              <a:srgbClr val="00206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83402959"/>
        <c:crosses val="autoZero"/>
        <c:crossBetween val="between"/>
      </c:valAx>
      <c:valAx>
        <c:axId val="483404399"/>
        <c:scaling>
          <c:orientation val="minMax"/>
        </c:scaling>
        <c:delete val="0"/>
        <c:axPos val="r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Myriad Pro" panose="020B0503030403020204"/>
                <a:ea typeface="+mn-ea"/>
                <a:cs typeface="+mn-cs"/>
              </a:defRPr>
            </a:pPr>
            <a:endParaRPr lang="tr-TR"/>
          </a:p>
        </c:txPr>
        <c:crossAx val="483402479"/>
        <c:crosses val="max"/>
        <c:crossBetween val="between"/>
      </c:valAx>
      <c:catAx>
        <c:axId val="483402479"/>
        <c:scaling>
          <c:orientation val="minMax"/>
        </c:scaling>
        <c:delete val="1"/>
        <c:axPos val="b"/>
        <c:majorTickMark val="none"/>
        <c:minorTickMark val="none"/>
        <c:tickLblPos val="nextTo"/>
        <c:crossAx val="4834043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80917452096451"/>
          <c:y val="0.93797099516804727"/>
          <c:w val="0.43497938383745438"/>
          <c:h val="5.85588736445995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0.11666</cdr:x>
      <cdr:y>0.87946</cdr:y>
    </cdr:from>
    <cdr:to>
      <cdr:x>0.94278</cdr:x>
      <cdr:y>0.94727</cdr:y>
    </cdr:to>
    <cdr:sp macro="" textlink="">
      <cdr:nvSpPr>
        <cdr:cNvPr id="2" name="Metin kutusu 8">
          <a:extLst xmlns:a="http://schemas.openxmlformats.org/drawingml/2006/main">
            <a:ext uri="{FF2B5EF4-FFF2-40B4-BE49-F238E27FC236}">
              <a16:creationId xmlns:a16="http://schemas.microsoft.com/office/drawing/2014/main" id="{ED4C58F5-2E75-290B-EE27-2B4D4C759CF9}"/>
            </a:ext>
          </a:extLst>
        </cdr:cNvPr>
        <cdr:cNvSpPr txBox="1"/>
      </cdr:nvSpPr>
      <cdr:spPr>
        <a:xfrm xmlns:a="http://schemas.openxmlformats.org/drawingml/2006/main">
          <a:off x="644721" y="2993407"/>
          <a:ext cx="4565462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tr-T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tr-TR" sz="900" dirty="0">
              <a:solidFill>
                <a:srgbClr val="002060"/>
              </a:solidFill>
            </a:rPr>
            <a:t>2013     2014     2015     2016     2017     2018     2019     2020      2021     2022     2023    2024 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65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21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63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05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>
            <a:extLst>
              <a:ext uri="{FF2B5EF4-FFF2-40B4-BE49-F238E27FC236}">
                <a16:creationId xmlns:a16="http://schemas.microsoft.com/office/drawing/2014/main" id="{4463805C-3E5F-444A-A5E3-0A3573B82D40}"/>
              </a:ext>
            </a:extLst>
          </p:cNvPr>
          <p:cNvSpPr/>
          <p:nvPr userDrawn="1"/>
        </p:nvSpPr>
        <p:spPr>
          <a:xfrm>
            <a:off x="0" y="6344877"/>
            <a:ext cx="12192000" cy="513124"/>
          </a:xfrm>
          <a:prstGeom prst="rect">
            <a:avLst/>
          </a:prstGeom>
          <a:solidFill>
            <a:srgbClr val="A00000"/>
          </a:solidFill>
          <a:ln>
            <a:solidFill>
              <a:srgbClr val="002060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9" name="Picture 4" descr="Untitled-1.png">
            <a:extLst>
              <a:ext uri="{FF2B5EF4-FFF2-40B4-BE49-F238E27FC236}">
                <a16:creationId xmlns:a16="http://schemas.microsoft.com/office/drawing/2014/main" id="{A3EB46D3-59A0-4B9C-9D12-4C7201815D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05" y="6409070"/>
            <a:ext cx="1260000" cy="384737"/>
          </a:xfrm>
          <a:prstGeom prst="rect">
            <a:avLst/>
          </a:prstGeom>
        </p:spPr>
      </p:pic>
      <p:sp>
        <p:nvSpPr>
          <p:cNvPr id="10" name="Slayt Numarası Yer Tutucusu 28">
            <a:extLst>
              <a:ext uri="{FF2B5EF4-FFF2-40B4-BE49-F238E27FC236}">
                <a16:creationId xmlns:a16="http://schemas.microsoft.com/office/drawing/2014/main" id="{EF9800E3-EC07-4061-B0F9-A25212AD7AF2}"/>
              </a:ext>
            </a:extLst>
          </p:cNvPr>
          <p:cNvSpPr txBox="1">
            <a:spLocks/>
          </p:cNvSpPr>
          <p:nvPr userDrawn="1"/>
        </p:nvSpPr>
        <p:spPr>
          <a:xfrm>
            <a:off x="11546378" y="6344877"/>
            <a:ext cx="436017" cy="543428"/>
          </a:xfrm>
          <a:prstGeom prst="round2SameRect">
            <a:avLst/>
          </a:prstGeom>
          <a:noFill/>
          <a:ln>
            <a:noFill/>
          </a:ln>
          <a:effectLst>
            <a:softEdge rad="12700"/>
          </a:effectLst>
        </p:spPr>
        <p:txBody>
          <a:bodyPr vert="horz" lIns="91440" tIns="45720" rIns="91440" bIns="45720" rtlCol="0" anchor="ctr"/>
          <a:lstStyle>
            <a:defPPr>
              <a:defRPr lang="tr-T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53F540A-4CC8-4C65-ADF3-5D7ED0C1F21C}" type="slidenum">
              <a:rPr lang="tr-TR" b="1" smtClean="0">
                <a:solidFill>
                  <a:schemeClr val="bg1"/>
                </a:solidFill>
              </a:rPr>
              <a:pPr algn="ctr"/>
              <a:t>‹#›</a:t>
            </a:fld>
            <a:endParaRPr lang="tr-T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29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453F187E-C565-4246-87A3-2F2EBDAF56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77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103D220-4F0D-04D1-D591-A133D0DA8C26}"/>
              </a:ext>
            </a:extLst>
          </p:cNvPr>
          <p:cNvSpPr txBox="1"/>
          <p:nvPr/>
        </p:nvSpPr>
        <p:spPr>
          <a:xfrm>
            <a:off x="2913797" y="2768135"/>
            <a:ext cx="63644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b="1" dirty="0">
                <a:solidFill>
                  <a:schemeClr val="bg1"/>
                </a:solidFill>
              </a:rPr>
              <a:t>Gizem YENİTEN</a:t>
            </a:r>
          </a:p>
          <a:p>
            <a:pPr algn="ctr"/>
            <a:endParaRPr lang="tr-TR" sz="2800" b="1" dirty="0">
              <a:solidFill>
                <a:schemeClr val="bg1"/>
              </a:solidFill>
            </a:endParaRPr>
          </a:p>
          <a:p>
            <a:pPr algn="ctr"/>
            <a:r>
              <a:rPr lang="tr-TR" sz="2800" b="1" dirty="0">
                <a:solidFill>
                  <a:schemeClr val="bg1"/>
                </a:solidFill>
              </a:rPr>
              <a:t>11.08.2025</a:t>
            </a:r>
          </a:p>
        </p:txBody>
      </p:sp>
    </p:spTree>
    <p:extLst>
      <p:ext uri="{BB962C8B-B14F-4D97-AF65-F5344CB8AC3E}">
        <p14:creationId xmlns:p14="http://schemas.microsoft.com/office/powerpoint/2010/main" val="373000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AF4AD71-A0DE-4569-8559-89E5D28C6857}"/>
              </a:ext>
            </a:extLst>
          </p:cNvPr>
          <p:cNvSpPr txBox="1">
            <a:spLocks/>
          </p:cNvSpPr>
          <p:nvPr/>
        </p:nvSpPr>
        <p:spPr>
          <a:xfrm>
            <a:off x="569623" y="0"/>
            <a:ext cx="5011022" cy="983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2pPr>
            <a:lvl3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3pPr>
            <a:lvl4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4pPr>
            <a:lvl5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5pPr>
            <a:lvl6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r>
              <a:rPr lang="tr-TR" sz="2800" b="1" dirty="0">
                <a:solidFill>
                  <a:srgbClr val="A00000"/>
                </a:solidFill>
                <a:latin typeface="Myriad Pro" panose="020B0503030403020204" pitchFamily="34" charset="0"/>
              </a:rPr>
              <a:t>İçindekiler</a:t>
            </a:r>
          </a:p>
        </p:txBody>
      </p:sp>
      <p:sp>
        <p:nvSpPr>
          <p:cNvPr id="3" name="Unvan 1">
            <a:extLst>
              <a:ext uri="{FF2B5EF4-FFF2-40B4-BE49-F238E27FC236}">
                <a16:creationId xmlns:a16="http://schemas.microsoft.com/office/drawing/2014/main" id="{B02480F7-41E1-424B-B145-C1E4764BEB66}"/>
              </a:ext>
            </a:extLst>
          </p:cNvPr>
          <p:cNvSpPr txBox="1">
            <a:spLocks/>
          </p:cNvSpPr>
          <p:nvPr/>
        </p:nvSpPr>
        <p:spPr>
          <a:xfrm>
            <a:off x="941640" y="2137996"/>
            <a:ext cx="7062877" cy="3052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2pPr>
            <a:lvl3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3pPr>
            <a:lvl4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4pPr>
            <a:lvl5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5pPr>
            <a:lvl6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A00000"/>
                </a:solidFill>
                <a:latin typeface="Myriad Pro" panose="020B0503030403020204" pitchFamily="34" charset="0"/>
              </a:rPr>
              <a:t>Amaç(Regresyon Tanımı)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A00000"/>
                </a:solidFill>
                <a:latin typeface="Myriad Pro" panose="020B0503030403020204" pitchFamily="34" charset="0"/>
              </a:rPr>
              <a:t>Model ve değişkenler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A00000"/>
                </a:solidFill>
                <a:latin typeface="Myriad Pro" panose="020B0503030403020204" pitchFamily="34" charset="0"/>
              </a:rPr>
              <a:t>Sonuçlar , grafik , tablolar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A00000"/>
                </a:solidFill>
                <a:latin typeface="Myriad Pro" panose="020B0503030403020204" pitchFamily="34" charset="0"/>
              </a:rPr>
              <a:t>Yorumlar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sz="2800" b="1" dirty="0">
              <a:solidFill>
                <a:srgbClr val="A00000"/>
              </a:solidFill>
              <a:latin typeface="Myriad Pro" panose="020B0503030403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443566C-BD8E-4509-B807-B2BBA2BD14C4}"/>
              </a:ext>
            </a:extLst>
          </p:cNvPr>
          <p:cNvSpPr txBox="1"/>
          <p:nvPr/>
        </p:nvSpPr>
        <p:spPr>
          <a:xfrm>
            <a:off x="569623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D33A547-8150-7B7B-0F58-3C1D94ED92D0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27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A5B918FC-8D02-9DCE-FBC5-5C03325D628E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3" name="Unvan 1">
            <a:extLst>
              <a:ext uri="{FF2B5EF4-FFF2-40B4-BE49-F238E27FC236}">
                <a16:creationId xmlns:a16="http://schemas.microsoft.com/office/drawing/2014/main" id="{0496F120-8136-2FED-5598-F704563F4441}"/>
              </a:ext>
            </a:extLst>
          </p:cNvPr>
          <p:cNvSpPr txBox="1">
            <a:spLocks/>
          </p:cNvSpPr>
          <p:nvPr/>
        </p:nvSpPr>
        <p:spPr>
          <a:xfrm>
            <a:off x="789863" y="1907260"/>
            <a:ext cx="10738414" cy="3690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2pPr>
            <a:lvl3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3pPr>
            <a:lvl4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4pPr>
            <a:lvl5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5pPr>
            <a:lvl6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endParaRPr lang="tr-TR" sz="2800" b="1" dirty="0">
              <a:solidFill>
                <a:srgbClr val="A00000"/>
              </a:solidFill>
              <a:latin typeface="Myriad Pro" panose="020B0503030403020204" pitchFamily="34" charset="0"/>
            </a:endParaRPr>
          </a:p>
        </p:txBody>
      </p:sp>
      <p:sp>
        <p:nvSpPr>
          <p:cNvPr id="4" name="Unvan 1">
            <a:extLst>
              <a:ext uri="{FF2B5EF4-FFF2-40B4-BE49-F238E27FC236}">
                <a16:creationId xmlns:a16="http://schemas.microsoft.com/office/drawing/2014/main" id="{B74B03A7-6D43-3920-5DFA-FF4F358D4A10}"/>
              </a:ext>
            </a:extLst>
          </p:cNvPr>
          <p:cNvSpPr txBox="1">
            <a:spLocks/>
          </p:cNvSpPr>
          <p:nvPr/>
        </p:nvSpPr>
        <p:spPr>
          <a:xfrm>
            <a:off x="663723" y="1907260"/>
            <a:ext cx="9648203" cy="2736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2pPr>
            <a:lvl3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3pPr>
            <a:lvl4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4pPr>
            <a:lvl5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5pPr>
            <a:lvl6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0" algn="l" defTabSz="1219169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50" b="1" i="0" u="none" strike="noStrike" cap="none" spc="-85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r>
              <a:rPr lang="tr-TR" sz="1600" dirty="0">
                <a:solidFill>
                  <a:srgbClr val="002060"/>
                </a:solidFill>
              </a:rPr>
              <a:t>Çalışmada, tek bir bağımsız değişken ile bağımlı değişken arasındaki ilişkiyi analiz ederek, ihracat üzerinde etkili unsurları belirlemek ve kurulan modelin geçerliliğini değerlendirmek amaçlanmaktadır.</a:t>
            </a:r>
          </a:p>
          <a:p>
            <a:endParaRPr lang="tr-TR" sz="1600" b="1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D76F74C-5144-D0F6-8E4A-6B15C39B0360}"/>
              </a:ext>
            </a:extLst>
          </p:cNvPr>
          <p:cNvSpPr txBox="1"/>
          <p:nvPr/>
        </p:nvSpPr>
        <p:spPr>
          <a:xfrm>
            <a:off x="569624" y="275917"/>
            <a:ext cx="414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  <a:latin typeface="MyriD PRO"/>
              </a:rPr>
              <a:t>Amaç(Regresyon Tanımı)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2111751-E4DB-5F70-6B3A-3E60947C26EF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00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5CDD0F6-5B42-9FDF-F6BE-EF75D17738B3}"/>
              </a:ext>
            </a:extLst>
          </p:cNvPr>
          <p:cNvSpPr txBox="1"/>
          <p:nvPr/>
        </p:nvSpPr>
        <p:spPr>
          <a:xfrm>
            <a:off x="569624" y="2521059"/>
            <a:ext cx="57029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rgbClr val="002060"/>
                </a:solidFill>
              </a:rPr>
              <a:t>Bu çalışmada, ihracatı etkilediği düşünülen İstihdam (X₁), Yurt dışından bölgeye satışlar (YB)(X₂), </a:t>
            </a:r>
            <a:r>
              <a:rPr lang="tr-TR" sz="1600" dirty="0" err="1">
                <a:solidFill>
                  <a:srgbClr val="002060"/>
                </a:solidFill>
              </a:rPr>
              <a:t>Türkiyeden</a:t>
            </a:r>
            <a:r>
              <a:rPr lang="tr-TR" sz="1600" dirty="0">
                <a:solidFill>
                  <a:srgbClr val="002060"/>
                </a:solidFill>
              </a:rPr>
              <a:t> bölgeye satışlar (TB)(X₃), Üretim Faaliyet Ruhsatı Sayısı(ÜFRS)(X₄) ve Ticaret Hacmi (X₅) değişkenleriyle bir model kurmayı hedefledim. Ancak değişkenler arasında yüksek korelasyon bulunması ve bunun istatistiksel hatalara yol açması nedeniyle, her bir değişkenin ihracat üzerindeki etkisini ayrı ayrı analiz ettim.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F24DECC-E162-50E2-D4C7-2D3C0BD052D5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D4FDB14A-1988-A8FB-2791-8EA80873578A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  <a:latin typeface="MyriD PRO"/>
              </a:rPr>
              <a:t>Amaç(Regresyon Tanımı)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84C337C-61F7-592D-D2C0-BF2EF9187513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2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5D879BD0-A603-828C-F673-93BAA64A7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00524"/>
              </p:ext>
            </p:extLst>
          </p:nvPr>
        </p:nvGraphicFramePr>
        <p:xfrm>
          <a:off x="6670386" y="1766507"/>
          <a:ext cx="1580972" cy="335280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362303474"/>
                    </a:ext>
                  </a:extLst>
                </a:gridCol>
              </a:tblGrid>
              <a:tr h="328315">
                <a:tc>
                  <a:txBody>
                    <a:bodyPr/>
                    <a:lstStyle/>
                    <a:p>
                      <a:r>
                        <a:rPr lang="tr-TR" sz="1600" dirty="0"/>
                        <a:t>  İSTİHDAM(X1)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149048"/>
                  </a:ext>
                </a:extLst>
              </a:tr>
            </a:tbl>
          </a:graphicData>
        </a:graphic>
      </p:graphicFrame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34DC86A9-3BE2-16CC-F9D8-344BCF61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587852"/>
              </p:ext>
            </p:extLst>
          </p:nvPr>
        </p:nvGraphicFramePr>
        <p:xfrm>
          <a:off x="6670386" y="2446891"/>
          <a:ext cx="1580972" cy="365760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386144728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tr-TR" dirty="0"/>
                        <a:t>        </a:t>
                      </a:r>
                      <a:r>
                        <a:rPr lang="tr-TR" sz="1600" dirty="0"/>
                        <a:t>YB (X2)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827593"/>
                  </a:ext>
                </a:extLst>
              </a:tr>
            </a:tbl>
          </a:graphicData>
        </a:graphic>
      </p:graphicFrame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6FA4F5D4-834E-5314-C8E2-55B111278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206764"/>
              </p:ext>
            </p:extLst>
          </p:nvPr>
        </p:nvGraphicFramePr>
        <p:xfrm>
          <a:off x="6670386" y="4711847"/>
          <a:ext cx="1580972" cy="579120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21333303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tr-TR" sz="1600" dirty="0"/>
                        <a:t>       TİCARET                                                                                                                                                                                                                    HACMİ(X5)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27467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58505DCD-08BB-CC94-667A-B8580685C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16716"/>
              </p:ext>
            </p:extLst>
          </p:nvPr>
        </p:nvGraphicFramePr>
        <p:xfrm>
          <a:off x="6670386" y="3244846"/>
          <a:ext cx="1580972" cy="365761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3658256467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tr-TR" dirty="0"/>
                        <a:t>        </a:t>
                      </a:r>
                      <a:r>
                        <a:rPr lang="tr-TR" sz="1600" dirty="0"/>
                        <a:t>TB(X3)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270246"/>
                  </a:ext>
                </a:extLst>
              </a:tr>
            </a:tbl>
          </a:graphicData>
        </a:graphic>
      </p:graphicFrame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0C1F272E-A171-F582-CEA1-6DD460719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15563"/>
              </p:ext>
            </p:extLst>
          </p:nvPr>
        </p:nvGraphicFramePr>
        <p:xfrm>
          <a:off x="6670386" y="3995227"/>
          <a:ext cx="1580972" cy="365760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34988460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tr-TR" dirty="0"/>
                        <a:t>      </a:t>
                      </a:r>
                      <a:r>
                        <a:rPr lang="tr-TR" sz="1600" dirty="0"/>
                        <a:t>ÜFRS(X4)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058388"/>
                  </a:ext>
                </a:extLst>
              </a:tr>
            </a:tbl>
          </a:graphicData>
        </a:graphic>
      </p:graphicFrame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9E3C68B1-D885-BB53-241D-4FD6B079F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43444"/>
              </p:ext>
            </p:extLst>
          </p:nvPr>
        </p:nvGraphicFramePr>
        <p:xfrm>
          <a:off x="9396495" y="3241275"/>
          <a:ext cx="1580972" cy="365761"/>
        </p:xfrm>
        <a:graphic>
          <a:graphicData uri="http://schemas.openxmlformats.org/drawingml/2006/table">
            <a:tbl>
              <a:tblPr/>
              <a:tblGrid>
                <a:gridCol w="1580972">
                  <a:extLst>
                    <a:ext uri="{9D8B030D-6E8A-4147-A177-3AD203B41FA5}">
                      <a16:colId xmlns:a16="http://schemas.microsoft.com/office/drawing/2014/main" val="575466297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r>
                        <a:rPr lang="tr-TR" sz="1600" dirty="0"/>
                        <a:t>     İHRACAT(Y)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518322"/>
                  </a:ext>
                </a:extLst>
              </a:tr>
            </a:tbl>
          </a:graphicData>
        </a:graphic>
      </p:graphicFrame>
      <p:sp>
        <p:nvSpPr>
          <p:cNvPr id="16" name="Metin kutusu 15">
            <a:extLst>
              <a:ext uri="{FF2B5EF4-FFF2-40B4-BE49-F238E27FC236}">
                <a16:creationId xmlns:a16="http://schemas.microsoft.com/office/drawing/2014/main" id="{D4517AAE-51B6-357B-7AB7-877FF8F115F1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97F3C046-32DC-2161-B90D-8CA60F87F046}"/>
              </a:ext>
            </a:extLst>
          </p:cNvPr>
          <p:cNvCxnSpPr>
            <a:cxnSpLocks/>
            <a:stCxn id="7" idx="1"/>
            <a:endCxn id="2" idx="3"/>
          </p:cNvCxnSpPr>
          <p:nvPr/>
        </p:nvCxnSpPr>
        <p:spPr>
          <a:xfrm flipH="1" flipV="1">
            <a:off x="8251358" y="1934147"/>
            <a:ext cx="1145137" cy="1490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Bağlayıcı 20">
            <a:extLst>
              <a:ext uri="{FF2B5EF4-FFF2-40B4-BE49-F238E27FC236}">
                <a16:creationId xmlns:a16="http://schemas.microsoft.com/office/drawing/2014/main" id="{1E60D613-7F13-9294-CA32-A409C681906D}"/>
              </a:ext>
            </a:extLst>
          </p:cNvPr>
          <p:cNvCxnSpPr>
            <a:endCxn id="3" idx="3"/>
          </p:cNvCxnSpPr>
          <p:nvPr/>
        </p:nvCxnSpPr>
        <p:spPr>
          <a:xfrm flipH="1" flipV="1">
            <a:off x="8251358" y="2629771"/>
            <a:ext cx="1145137" cy="794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Bağlayıcı 22">
            <a:extLst>
              <a:ext uri="{FF2B5EF4-FFF2-40B4-BE49-F238E27FC236}">
                <a16:creationId xmlns:a16="http://schemas.microsoft.com/office/drawing/2014/main" id="{73992AE7-1073-838B-E254-4D06C123855F}"/>
              </a:ext>
            </a:extLst>
          </p:cNvPr>
          <p:cNvCxnSpPr>
            <a:endCxn id="5" idx="3"/>
          </p:cNvCxnSpPr>
          <p:nvPr/>
        </p:nvCxnSpPr>
        <p:spPr>
          <a:xfrm flipH="1">
            <a:off x="8251358" y="3424155"/>
            <a:ext cx="1145137" cy="3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Bağlayıcı 24">
            <a:extLst>
              <a:ext uri="{FF2B5EF4-FFF2-40B4-BE49-F238E27FC236}">
                <a16:creationId xmlns:a16="http://schemas.microsoft.com/office/drawing/2014/main" id="{1DE2730F-422E-11E4-4027-A7C495C8A331}"/>
              </a:ext>
            </a:extLst>
          </p:cNvPr>
          <p:cNvCxnSpPr>
            <a:endCxn id="6" idx="3"/>
          </p:cNvCxnSpPr>
          <p:nvPr/>
        </p:nvCxnSpPr>
        <p:spPr>
          <a:xfrm flipH="1">
            <a:off x="8251358" y="3424155"/>
            <a:ext cx="1145137" cy="753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C1B837C7-2045-D48C-7D92-8FB9CA930336}"/>
              </a:ext>
            </a:extLst>
          </p:cNvPr>
          <p:cNvCxnSpPr>
            <a:endCxn id="4" idx="3"/>
          </p:cNvCxnSpPr>
          <p:nvPr/>
        </p:nvCxnSpPr>
        <p:spPr>
          <a:xfrm flipH="1">
            <a:off x="8251358" y="3424155"/>
            <a:ext cx="1145137" cy="1577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621CCFE8-E002-3FA3-6F67-7A443F62C1D4}"/>
              </a:ext>
            </a:extLst>
          </p:cNvPr>
          <p:cNvSpPr txBox="1"/>
          <p:nvPr/>
        </p:nvSpPr>
        <p:spPr>
          <a:xfrm>
            <a:off x="569624" y="274954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  <a:latin typeface="MyriD PRO"/>
              </a:rPr>
              <a:t>Amaç(Regresyon Tanımı)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3EA0101C-2992-4DA4-225F-E19A794B6DF3}"/>
              </a:ext>
            </a:extLst>
          </p:cNvPr>
          <p:cNvSpPr txBox="1"/>
          <p:nvPr/>
        </p:nvSpPr>
        <p:spPr>
          <a:xfrm>
            <a:off x="569624" y="2521059"/>
            <a:ext cx="57029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rgbClr val="002060"/>
                </a:solidFill>
              </a:rPr>
              <a:t>Bu çalışmada, ihracatı etkilediği düşünülen İstihdam (X₁), Yurt dışından bölgeye satışlar (YB)(X₂), </a:t>
            </a:r>
            <a:r>
              <a:rPr lang="tr-TR" sz="1600" dirty="0" err="1">
                <a:solidFill>
                  <a:srgbClr val="002060"/>
                </a:solidFill>
              </a:rPr>
              <a:t>Türkiyeden</a:t>
            </a:r>
            <a:r>
              <a:rPr lang="tr-TR" sz="1600" dirty="0">
                <a:solidFill>
                  <a:srgbClr val="002060"/>
                </a:solidFill>
              </a:rPr>
              <a:t> bölgeye satışlar (TB)(X₃), Üretim Faaliyet Ruhsatı Sayısı(ÜFRS)(X₄) ve Ticaret Hacmi (X₅) değişkenleriyle bir model kurmayı hedefledim. Ancak değişkenler arasında yüksek korelasyon bulunması ve bunun istatistiksel hatalara yol açması nedeniyle, her bir değişkenin ihracat üzerindeki etkisini ayrı ayrı analiz ettim.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A6C88A2-7529-C968-D71F-26A823EF183C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51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D6CE776B-A6DB-A5AC-4235-0DBF8CB4A486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İSTİHDAM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ADBE9A5-A2F2-7361-5656-B92C725F2611}"/>
              </a:ext>
            </a:extLst>
          </p:cNvPr>
          <p:cNvSpPr txBox="1"/>
          <p:nvPr/>
        </p:nvSpPr>
        <p:spPr>
          <a:xfrm>
            <a:off x="569624" y="255448"/>
            <a:ext cx="10101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etin kutusu 3">
                <a:extLst>
                  <a:ext uri="{FF2B5EF4-FFF2-40B4-BE49-F238E27FC236}">
                    <a16:creationId xmlns:a16="http://schemas.microsoft.com/office/drawing/2014/main" id="{A58EFCB4-1E25-E974-E77F-B82F4E32BF49}"/>
                  </a:ext>
                </a:extLst>
              </p:cNvPr>
              <p:cNvSpPr txBox="1"/>
              <p:nvPr/>
            </p:nvSpPr>
            <p:spPr>
              <a:xfrm>
                <a:off x="1724457" y="1933541"/>
                <a:ext cx="8743085" cy="1253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𝑬𝑿𝑷</m:t>
                      </m:r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𝟓𝟏𝟓𝟒𝟓𝟗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𝟖𝟗𝟓𝟓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𝟏𝟐𝟒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𝟓𝟕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𝑬𝑴𝑷</m:t>
                      </m:r>
                    </m:oMath>
                  </m:oMathPara>
                </a14:m>
                <a:endParaRPr lang="tr-TR" sz="3200" kern="100" dirty="0">
                  <a:solidFill>
                    <a:srgbClr val="00206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tr-TR" sz="3200" dirty="0"/>
              </a:p>
            </p:txBody>
          </p:sp>
        </mc:Choice>
        <mc:Fallback xmlns="">
          <p:sp>
            <p:nvSpPr>
              <p:cNvPr id="4" name="Metin kutusu 3">
                <a:extLst>
                  <a:ext uri="{FF2B5EF4-FFF2-40B4-BE49-F238E27FC236}">
                    <a16:creationId xmlns:a16="http://schemas.microsoft.com/office/drawing/2014/main" id="{A58EFCB4-1E25-E974-E77F-B82F4E3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457" y="1933541"/>
                <a:ext cx="8743085" cy="12536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etin kutusu 4">
            <a:extLst>
              <a:ext uri="{FF2B5EF4-FFF2-40B4-BE49-F238E27FC236}">
                <a16:creationId xmlns:a16="http://schemas.microsoft.com/office/drawing/2014/main" id="{71055A4D-0825-A7DA-CE60-37623E45D22A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92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B7E5DC5C-568B-9677-DFAF-2C3A3DFF03BB}"/>
              </a:ext>
            </a:extLst>
          </p:cNvPr>
          <p:cNvSpPr txBox="1"/>
          <p:nvPr/>
        </p:nvSpPr>
        <p:spPr>
          <a:xfrm>
            <a:off x="569624" y="255448"/>
            <a:ext cx="10101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0F419D9-D635-7E47-09D7-284DC15404CC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İSTİHDAM</a:t>
            </a:r>
          </a:p>
        </p:txBody>
      </p:sp>
      <p:sp>
        <p:nvSpPr>
          <p:cNvPr id="13" name="Ok: Yukarı 12">
            <a:extLst>
              <a:ext uri="{FF2B5EF4-FFF2-40B4-BE49-F238E27FC236}">
                <a16:creationId xmlns:a16="http://schemas.microsoft.com/office/drawing/2014/main" id="{574C3E0E-2535-0D7C-B68B-D2C03E679CF2}"/>
              </a:ext>
            </a:extLst>
          </p:cNvPr>
          <p:cNvSpPr/>
          <p:nvPr/>
        </p:nvSpPr>
        <p:spPr>
          <a:xfrm>
            <a:off x="2341547" y="2897633"/>
            <a:ext cx="333286" cy="991312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ln>
                <a:solidFill>
                  <a:srgbClr val="FFFF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14" name="Ok: Yukarı 13">
            <a:extLst>
              <a:ext uri="{FF2B5EF4-FFF2-40B4-BE49-F238E27FC236}">
                <a16:creationId xmlns:a16="http://schemas.microsoft.com/office/drawing/2014/main" id="{D8F10892-9C31-D638-07E7-96D8E2EA6C55}"/>
              </a:ext>
            </a:extLst>
          </p:cNvPr>
          <p:cNvSpPr/>
          <p:nvPr/>
        </p:nvSpPr>
        <p:spPr>
          <a:xfrm>
            <a:off x="9363346" y="2866104"/>
            <a:ext cx="333286" cy="991312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2060"/>
              </a:solidFill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7491E66D-23DC-CF90-19FF-41941888A17D}"/>
              </a:ext>
            </a:extLst>
          </p:cNvPr>
          <p:cNvSpPr txBox="1"/>
          <p:nvPr/>
        </p:nvSpPr>
        <p:spPr>
          <a:xfrm>
            <a:off x="8798292" y="4326027"/>
            <a:ext cx="1463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İstihdamda ki 1 birimlik artış 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A24EE6C9-4970-8602-8F79-30EFA72F2FB9}"/>
              </a:ext>
            </a:extLst>
          </p:cNvPr>
          <p:cNvSpPr txBox="1"/>
          <p:nvPr/>
        </p:nvSpPr>
        <p:spPr>
          <a:xfrm>
            <a:off x="2008074" y="4250585"/>
            <a:ext cx="1623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İhracatta 124,57 bin dolar artışa sebep olmakta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74E31B16-7A79-3357-4B6B-7EEAC93D1F4A}"/>
                  </a:ext>
                </a:extLst>
              </p:cNvPr>
              <p:cNvSpPr txBox="1"/>
              <p:nvPr/>
            </p:nvSpPr>
            <p:spPr>
              <a:xfrm>
                <a:off x="1724457" y="1933541"/>
                <a:ext cx="8743085" cy="1253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𝑬𝑿𝑷</m:t>
                      </m:r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𝟓𝟏𝟓𝟒𝟓𝟗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𝟖𝟗𝟓𝟓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𝟏𝟐𝟒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𝟓𝟕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𝑬𝑴𝑷</m:t>
                      </m:r>
                    </m:oMath>
                  </m:oMathPara>
                </a14:m>
                <a:endParaRPr lang="tr-TR" sz="3200" kern="100" dirty="0">
                  <a:solidFill>
                    <a:srgbClr val="00206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tr-TR" sz="3200" dirty="0"/>
              </a:p>
            </p:txBody>
          </p:sp>
        </mc:Choice>
        <mc:Fallback xmlns="">
          <p:sp>
            <p:nvSpPr>
              <p:cNvPr id="7" name="Metin kutusu 6">
                <a:extLst>
                  <a:ext uri="{FF2B5EF4-FFF2-40B4-BE49-F238E27FC236}">
                    <a16:creationId xmlns:a16="http://schemas.microsoft.com/office/drawing/2014/main" id="{74E31B16-7A79-3357-4B6B-7EEAC93D1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457" y="1933541"/>
                <a:ext cx="8743085" cy="12536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etin kutusu 1">
            <a:extLst>
              <a:ext uri="{FF2B5EF4-FFF2-40B4-BE49-F238E27FC236}">
                <a16:creationId xmlns:a16="http://schemas.microsoft.com/office/drawing/2014/main" id="{71AEFFFF-E2D1-54EF-992C-2D70AF2167DE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4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fik 1">
            <a:extLst>
              <a:ext uri="{FF2B5EF4-FFF2-40B4-BE49-F238E27FC236}">
                <a16:creationId xmlns:a16="http://schemas.microsoft.com/office/drawing/2014/main" id="{1687CD41-211A-AE71-BCC4-00C945B13E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889174"/>
              </p:ext>
            </p:extLst>
          </p:nvPr>
        </p:nvGraphicFramePr>
        <p:xfrm>
          <a:off x="6096000" y="2059663"/>
          <a:ext cx="5566258" cy="3375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etin kutusu 2">
            <a:extLst>
              <a:ext uri="{FF2B5EF4-FFF2-40B4-BE49-F238E27FC236}">
                <a16:creationId xmlns:a16="http://schemas.microsoft.com/office/drawing/2014/main" id="{F3C48FA3-E1EC-FAD0-7097-E6E300EB3E69}"/>
              </a:ext>
            </a:extLst>
          </p:cNvPr>
          <p:cNvSpPr txBox="1"/>
          <p:nvPr/>
        </p:nvSpPr>
        <p:spPr>
          <a:xfrm>
            <a:off x="6769598" y="4999257"/>
            <a:ext cx="52760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900" dirty="0">
                <a:solidFill>
                  <a:srgbClr val="002060"/>
                </a:solidFill>
              </a:rPr>
              <a:t>2013     2014     2015     2016     2017     2018     2019     2020      2021     2022     2023    2024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20BC808-B23B-45E9-3C4A-4CE2ACE1E37F}"/>
              </a:ext>
            </a:extLst>
          </p:cNvPr>
          <p:cNvSpPr txBox="1"/>
          <p:nvPr/>
        </p:nvSpPr>
        <p:spPr>
          <a:xfrm>
            <a:off x="569624" y="255448"/>
            <a:ext cx="10101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DFFC918-C35E-4EBB-AA6F-6A3DB7BAB3C1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İSTİHDAM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2D24EF2-EF05-4ACA-1A90-BECABF75399C}"/>
              </a:ext>
            </a:extLst>
          </p:cNvPr>
          <p:cNvSpPr txBox="1"/>
          <p:nvPr/>
        </p:nvSpPr>
        <p:spPr>
          <a:xfrm>
            <a:off x="717846" y="2059663"/>
            <a:ext cx="426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002060"/>
                </a:solidFill>
              </a:rPr>
              <a:t>2013-2018 ARASI YAVAŞ AMA İSTİKRARLI 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6E15EB6-B16C-4B3D-97E6-02980E42DF02}"/>
              </a:ext>
            </a:extLst>
          </p:cNvPr>
          <p:cNvSpPr txBox="1"/>
          <p:nvPr/>
        </p:nvSpPr>
        <p:spPr>
          <a:xfrm>
            <a:off x="717846" y="2916252"/>
            <a:ext cx="426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002060"/>
                </a:solidFill>
              </a:rPr>
              <a:t>2019 SONRASI HEM İSTİHDAM HEM İHRACATTA HIZLI BİR YÜKSELİŞ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2DCE7B0-3C3D-C418-B2BB-95C013B52D6F}"/>
              </a:ext>
            </a:extLst>
          </p:cNvPr>
          <p:cNvSpPr txBox="1"/>
          <p:nvPr/>
        </p:nvSpPr>
        <p:spPr>
          <a:xfrm>
            <a:off x="717846" y="3941748"/>
            <a:ext cx="426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002060"/>
                </a:solidFill>
              </a:rPr>
              <a:t>2023-2024 İSTİHDAM GERİLESE DE İHRACAT BENZER SEYRETMİŞ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22FF582-8C1B-D50B-A39C-6E3B87AD16DB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621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336C315-FB35-8D7F-26E7-B9E432B668B0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İSTİHDAM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77FBA61-92F9-9E52-BE33-DDB2DF1BAE5B}"/>
              </a:ext>
            </a:extLst>
          </p:cNvPr>
          <p:cNvSpPr txBox="1"/>
          <p:nvPr/>
        </p:nvSpPr>
        <p:spPr>
          <a:xfrm>
            <a:off x="569624" y="255448"/>
            <a:ext cx="10101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DFE33DCC-16A2-8DCA-D483-ABC0AA7E3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505059"/>
              </p:ext>
            </p:extLst>
          </p:nvPr>
        </p:nvGraphicFramePr>
        <p:xfrm>
          <a:off x="3130611" y="1523224"/>
          <a:ext cx="6141575" cy="1811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320">
                  <a:extLst>
                    <a:ext uri="{9D8B030D-6E8A-4147-A177-3AD203B41FA5}">
                      <a16:colId xmlns:a16="http://schemas.microsoft.com/office/drawing/2014/main" val="118489468"/>
                    </a:ext>
                  </a:extLst>
                </a:gridCol>
                <a:gridCol w="1388355">
                  <a:extLst>
                    <a:ext uri="{9D8B030D-6E8A-4147-A177-3AD203B41FA5}">
                      <a16:colId xmlns:a16="http://schemas.microsoft.com/office/drawing/2014/main" val="204568043"/>
                    </a:ext>
                  </a:extLst>
                </a:gridCol>
                <a:gridCol w="1559231">
                  <a:extLst>
                    <a:ext uri="{9D8B030D-6E8A-4147-A177-3AD203B41FA5}">
                      <a16:colId xmlns:a16="http://schemas.microsoft.com/office/drawing/2014/main" val="3140763442"/>
                    </a:ext>
                  </a:extLst>
                </a:gridCol>
                <a:gridCol w="1644669">
                  <a:extLst>
                    <a:ext uri="{9D8B030D-6E8A-4147-A177-3AD203B41FA5}">
                      <a16:colId xmlns:a16="http://schemas.microsoft.com/office/drawing/2014/main" val="3112469602"/>
                    </a:ext>
                  </a:extLst>
                </a:gridCol>
              </a:tblGrid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1100" u="none" strike="noStrike" dirty="0">
                          <a:effectLst/>
                        </a:rPr>
                        <a:t> </a:t>
                      </a:r>
                      <a:endParaRPr lang="tr-T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P-değeri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Anlamlılık 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480713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l" fontAlgn="b"/>
                      <a:r>
                        <a:rPr lang="tr-TR" sz="32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   </a:t>
                      </a:r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Kesişim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0,71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49,76203458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3,48099E-05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89109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İSTİHDAM(X1)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93773"/>
                  </a:ext>
                </a:extLst>
              </a:tr>
            </a:tbl>
          </a:graphicData>
        </a:graphic>
      </p:graphicFrame>
      <p:cxnSp>
        <p:nvCxnSpPr>
          <p:cNvPr id="9" name="Bağlayıcı: Dirsek 8">
            <a:extLst>
              <a:ext uri="{FF2B5EF4-FFF2-40B4-BE49-F238E27FC236}">
                <a16:creationId xmlns:a16="http://schemas.microsoft.com/office/drawing/2014/main" id="{D714FA61-5F67-9D69-7AF2-B97D987415D2}"/>
              </a:ext>
            </a:extLst>
          </p:cNvPr>
          <p:cNvCxnSpPr>
            <a:cxnSpLocks/>
            <a:endCxn id="17" idx="0"/>
          </p:cNvCxnSpPr>
          <p:nvPr/>
        </p:nvCxnSpPr>
        <p:spPr>
          <a:xfrm rot="16200000" flipH="1">
            <a:off x="6858452" y="2924386"/>
            <a:ext cx="1772348" cy="14143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ağlayıcı: Dirsek 12">
            <a:extLst>
              <a:ext uri="{FF2B5EF4-FFF2-40B4-BE49-F238E27FC236}">
                <a16:creationId xmlns:a16="http://schemas.microsoft.com/office/drawing/2014/main" id="{717AB192-4970-DE8E-4A6E-7130309DD2C6}"/>
              </a:ext>
            </a:extLst>
          </p:cNvPr>
          <p:cNvCxnSpPr>
            <a:cxnSpLocks/>
          </p:cNvCxnSpPr>
          <p:nvPr/>
        </p:nvCxnSpPr>
        <p:spPr>
          <a:xfrm rot="5400000">
            <a:off x="4750138" y="3444766"/>
            <a:ext cx="1049508" cy="807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76132FA2-0763-2584-0990-3D9B3214C293}"/>
              </a:ext>
            </a:extLst>
          </p:cNvPr>
          <p:cNvSpPr txBox="1"/>
          <p:nvPr/>
        </p:nvSpPr>
        <p:spPr>
          <a:xfrm>
            <a:off x="3888337" y="4517725"/>
            <a:ext cx="1965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P-DEĞERİ&lt;0,05 </a:t>
            </a:r>
            <a:r>
              <a:rPr lang="tr-TR" sz="1600" dirty="0">
                <a:solidFill>
                  <a:srgbClr val="002060"/>
                </a:solidFill>
              </a:rPr>
              <a:t>İSTATİSTİKSEL OLARAK ANLAMLAI 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850C5AC9-ABBF-2244-2BEF-6E3104279493}"/>
              </a:ext>
            </a:extLst>
          </p:cNvPr>
          <p:cNvSpPr txBox="1"/>
          <p:nvPr/>
        </p:nvSpPr>
        <p:spPr>
          <a:xfrm>
            <a:off x="7037462" y="4517725"/>
            <a:ext cx="282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F DEĞERİ&gt;ANLAMLILIK F </a:t>
            </a:r>
            <a:r>
              <a:rPr lang="tr-TR" sz="1600" dirty="0">
                <a:solidFill>
                  <a:srgbClr val="002060"/>
                </a:solidFill>
              </a:rPr>
              <a:t>MODEL İSTATİSTİKSEL OLARAK ANLAMLI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D2B5E93-6F71-BE8C-310E-EFDA3B442C8C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55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2B40FAB3-6595-4FC8-54DE-00DFD268868B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YURT DIŞINDAN BÖLGEYE SATIŞ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84ED4CF-30DA-0E0F-8C93-2650EADE7633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1AF5A70B-BD9C-0B01-944A-408C8B501C5C}"/>
                  </a:ext>
                </a:extLst>
              </p:cNvPr>
              <p:cNvSpPr txBox="1"/>
              <p:nvPr/>
            </p:nvSpPr>
            <p:spPr>
              <a:xfrm>
                <a:off x="2286571" y="1864469"/>
                <a:ext cx="7301214" cy="761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𝑬𝑿𝑷</m:t>
                      </m:r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𝟏𝟕𝟎𝟐𝟏𝟏𝟕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𝟗𝟗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𝑺𝑭𝑨𝑹</m:t>
                      </m:r>
                    </m:oMath>
                  </m:oMathPara>
                </a14:m>
                <a:endParaRPr lang="tr-TR" sz="3200" b="1" kern="100" dirty="0">
                  <a:solidFill>
                    <a:srgbClr val="00206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1AF5A70B-BD9C-0B01-944A-408C8B501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571" y="1864469"/>
                <a:ext cx="7301214" cy="761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k: Yukarı 7">
            <a:extLst>
              <a:ext uri="{FF2B5EF4-FFF2-40B4-BE49-F238E27FC236}">
                <a16:creationId xmlns:a16="http://schemas.microsoft.com/office/drawing/2014/main" id="{34BD92AC-C12F-4CDD-DC2F-B2EA107B05ED}"/>
              </a:ext>
            </a:extLst>
          </p:cNvPr>
          <p:cNvSpPr/>
          <p:nvPr/>
        </p:nvSpPr>
        <p:spPr>
          <a:xfrm>
            <a:off x="2718423" y="2724251"/>
            <a:ext cx="333286" cy="991312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>
                <a:solidFill>
                  <a:srgbClr val="FFFF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9" name="Ok: Yukarı 8">
            <a:extLst>
              <a:ext uri="{FF2B5EF4-FFF2-40B4-BE49-F238E27FC236}">
                <a16:creationId xmlns:a16="http://schemas.microsoft.com/office/drawing/2014/main" id="{587AB470-B015-A300-5DBD-2391F04A01B5}"/>
              </a:ext>
            </a:extLst>
          </p:cNvPr>
          <p:cNvSpPr/>
          <p:nvPr/>
        </p:nvSpPr>
        <p:spPr>
          <a:xfrm>
            <a:off x="8597944" y="2724251"/>
            <a:ext cx="333286" cy="991312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2060"/>
              </a:solidFill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F538918-A14A-927E-7693-52BCAE4A1965}"/>
              </a:ext>
            </a:extLst>
          </p:cNvPr>
          <p:cNvSpPr txBox="1"/>
          <p:nvPr/>
        </p:nvSpPr>
        <p:spPr>
          <a:xfrm>
            <a:off x="7888165" y="3912659"/>
            <a:ext cx="208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Yurt dışından bölgeye satışlarda ki 1 birimlik artış 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A47AC52-F0DA-691A-9383-47CDD36471BC}"/>
              </a:ext>
            </a:extLst>
          </p:cNvPr>
          <p:cNvSpPr txBox="1"/>
          <p:nvPr/>
        </p:nvSpPr>
        <p:spPr>
          <a:xfrm>
            <a:off x="2286571" y="3912659"/>
            <a:ext cx="1623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İhracatta 0,99 bin dolar artışa sebep olmakta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CB28C88-3802-45F6-238B-E358101EAC4A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78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82BF95C-C278-64F0-68B5-130CF0B411FB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4FB48FE-9F25-5134-E132-B79F25B11E1C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YURT DIŞINDAN BÖLGEYE SATIŞ</a:t>
            </a:r>
          </a:p>
        </p:txBody>
      </p:sp>
      <p:graphicFrame>
        <p:nvGraphicFramePr>
          <p:cNvPr id="7" name="Grafik 6">
            <a:extLst>
              <a:ext uri="{FF2B5EF4-FFF2-40B4-BE49-F238E27FC236}">
                <a16:creationId xmlns:a16="http://schemas.microsoft.com/office/drawing/2014/main" id="{176A6C96-C3C4-A7AE-BD01-3D29719AC0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214827"/>
              </p:ext>
            </p:extLst>
          </p:nvPr>
        </p:nvGraphicFramePr>
        <p:xfrm>
          <a:off x="5865262" y="2136449"/>
          <a:ext cx="5714289" cy="358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4EE00F32-4491-CB5A-5D61-ADDACB612827}"/>
              </a:ext>
            </a:extLst>
          </p:cNvPr>
          <p:cNvSpPr txBox="1"/>
          <p:nvPr/>
        </p:nvSpPr>
        <p:spPr>
          <a:xfrm>
            <a:off x="612449" y="1794617"/>
            <a:ext cx="4463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2013’ten 2018’e kadar hem satışlar hem ihracat nispeten dalgalı ama düşük tempolu ilerlemiş.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8349448-7D78-1835-84F4-CCB9C1387A93}"/>
              </a:ext>
            </a:extLst>
          </p:cNvPr>
          <p:cNvSpPr txBox="1"/>
          <p:nvPr/>
        </p:nvSpPr>
        <p:spPr>
          <a:xfrm>
            <a:off x="569624" y="3102123"/>
            <a:ext cx="3931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2019’dan itibaren belirgin bir artış başlamış, özellikle 2021-2022’de güçlü bir sıçrama olmuş.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F35967A-94D9-35FA-6F8F-962146460FF7}"/>
              </a:ext>
            </a:extLst>
          </p:cNvPr>
          <p:cNvSpPr txBox="1"/>
          <p:nvPr/>
        </p:nvSpPr>
        <p:spPr>
          <a:xfrm>
            <a:off x="612353" y="4409629"/>
            <a:ext cx="38314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2023’te zirveye ulaşıldıktan sonra 2024’te her iki değer de biraz gerilemiş.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4541583-6AF8-E9E6-ED3B-FFBA300B661E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89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E916AA9-5EA1-25A5-3958-E4C8176E0E63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574BED3-2DD5-1243-5045-EC425D349FEE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TÜRKİYEDEN BÖLGEYE SATIŞ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6759DA40-9CB2-D632-B5C3-11FBA8992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041408"/>
              </p:ext>
            </p:extLst>
          </p:nvPr>
        </p:nvGraphicFramePr>
        <p:xfrm>
          <a:off x="3130611" y="1523224"/>
          <a:ext cx="6141575" cy="1811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320">
                  <a:extLst>
                    <a:ext uri="{9D8B030D-6E8A-4147-A177-3AD203B41FA5}">
                      <a16:colId xmlns:a16="http://schemas.microsoft.com/office/drawing/2014/main" val="118489468"/>
                    </a:ext>
                  </a:extLst>
                </a:gridCol>
                <a:gridCol w="1388355">
                  <a:extLst>
                    <a:ext uri="{9D8B030D-6E8A-4147-A177-3AD203B41FA5}">
                      <a16:colId xmlns:a16="http://schemas.microsoft.com/office/drawing/2014/main" val="204568043"/>
                    </a:ext>
                  </a:extLst>
                </a:gridCol>
                <a:gridCol w="1559231">
                  <a:extLst>
                    <a:ext uri="{9D8B030D-6E8A-4147-A177-3AD203B41FA5}">
                      <a16:colId xmlns:a16="http://schemas.microsoft.com/office/drawing/2014/main" val="3140763442"/>
                    </a:ext>
                  </a:extLst>
                </a:gridCol>
                <a:gridCol w="1644669">
                  <a:extLst>
                    <a:ext uri="{9D8B030D-6E8A-4147-A177-3AD203B41FA5}">
                      <a16:colId xmlns:a16="http://schemas.microsoft.com/office/drawing/2014/main" val="3112469602"/>
                    </a:ext>
                  </a:extLst>
                </a:gridCol>
              </a:tblGrid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1100" u="none" strike="noStrike" dirty="0">
                          <a:effectLst/>
                        </a:rPr>
                        <a:t> </a:t>
                      </a:r>
                      <a:endParaRPr lang="tr-T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P-değeri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Anlamlılık 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480713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32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   </a:t>
                      </a:r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Kesişim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0,38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A00000"/>
                          </a:solidFill>
                          <a:effectLst/>
                          <a:latin typeface="Calibri" panose="020F0502020204030204" pitchFamily="34" charset="0"/>
                        </a:rPr>
                        <a:t>15,65631224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0,002700368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89109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İSTİHDAM(X1)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93773"/>
                  </a:ext>
                </a:extLst>
              </a:tr>
            </a:tbl>
          </a:graphicData>
        </a:graphic>
      </p:graphicFrame>
      <p:cxnSp>
        <p:nvCxnSpPr>
          <p:cNvPr id="6" name="Bağlayıcı: Dirsek 5">
            <a:extLst>
              <a:ext uri="{FF2B5EF4-FFF2-40B4-BE49-F238E27FC236}">
                <a16:creationId xmlns:a16="http://schemas.microsoft.com/office/drawing/2014/main" id="{0E4AE1F8-591B-11F9-690C-F76F0EBA1BC0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6858452" y="2924386"/>
            <a:ext cx="1772348" cy="14143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ağlayıcı: Dirsek 6">
            <a:extLst>
              <a:ext uri="{FF2B5EF4-FFF2-40B4-BE49-F238E27FC236}">
                <a16:creationId xmlns:a16="http://schemas.microsoft.com/office/drawing/2014/main" id="{D05B190A-B112-9BCC-31E9-0159A4025476}"/>
              </a:ext>
            </a:extLst>
          </p:cNvPr>
          <p:cNvCxnSpPr>
            <a:cxnSpLocks/>
          </p:cNvCxnSpPr>
          <p:nvPr/>
        </p:nvCxnSpPr>
        <p:spPr>
          <a:xfrm rot="5400000">
            <a:off x="4750138" y="3444766"/>
            <a:ext cx="1049508" cy="807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>
            <a:extLst>
              <a:ext uri="{FF2B5EF4-FFF2-40B4-BE49-F238E27FC236}">
                <a16:creationId xmlns:a16="http://schemas.microsoft.com/office/drawing/2014/main" id="{70E69FE3-CF62-7787-9FB8-36BD083529A6}"/>
              </a:ext>
            </a:extLst>
          </p:cNvPr>
          <p:cNvSpPr txBox="1"/>
          <p:nvPr/>
        </p:nvSpPr>
        <p:spPr>
          <a:xfrm>
            <a:off x="3888337" y="4517725"/>
            <a:ext cx="1965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P-DEĞERİ&lt;0,05 </a:t>
            </a:r>
            <a:r>
              <a:rPr lang="tr-TR" sz="1600" dirty="0">
                <a:solidFill>
                  <a:srgbClr val="002060"/>
                </a:solidFill>
              </a:rPr>
              <a:t>İSTATİSTİKSEL OLARAK ANLAMLAI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4AC3D25-FF0E-54D5-F722-6FE2AEF929ED}"/>
              </a:ext>
            </a:extLst>
          </p:cNvPr>
          <p:cNvSpPr txBox="1"/>
          <p:nvPr/>
        </p:nvSpPr>
        <p:spPr>
          <a:xfrm>
            <a:off x="7037462" y="4517725"/>
            <a:ext cx="282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F DEĞERİ&gt;ANLAMLILIK F </a:t>
            </a:r>
            <a:r>
              <a:rPr lang="tr-TR" sz="1600" dirty="0">
                <a:solidFill>
                  <a:srgbClr val="002060"/>
                </a:solidFill>
              </a:rPr>
              <a:t>MODEL İSTATİSTİKSEL OLARAK ANLAMLI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8E3CBC-38BB-DBD0-C957-DEA54D32A46A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131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5240619-E430-0962-7A40-D38EC6DA870A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BC565F7-64E2-1565-F096-0E940C0437BD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TÜRKİYEDEN BÖLGEYE SATIŞ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BA1553FC-B917-EE83-BF8C-2AC15DE29E6A}"/>
                  </a:ext>
                </a:extLst>
              </p:cNvPr>
              <p:cNvSpPr txBox="1"/>
              <p:nvPr/>
            </p:nvSpPr>
            <p:spPr>
              <a:xfrm>
                <a:off x="2495810" y="1785314"/>
                <a:ext cx="7200380" cy="983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𝑬𝑿𝑷</m:t>
                      </m:r>
                      <m:r>
                        <a:rPr lang="tr-TR" sz="3200" b="1" i="1" kern="10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𝟑𝟏𝟔𝟓𝟗𝟑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𝟐𝟏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3200" b="1" i="1" kern="1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𝟗𝟔</m:t>
                          </m:r>
                        </m:e>
                      </m:d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tr-TR" sz="3200" b="1" i="1" kern="1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𝑺𝑻𝑭𝒁</m:t>
                      </m:r>
                    </m:oMath>
                  </m:oMathPara>
                </a14:m>
                <a:endParaRPr lang="tr-TR" sz="3200" b="1" kern="100" dirty="0">
                  <a:solidFill>
                    <a:srgbClr val="00206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tr-TR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Metin kutusu 5">
                <a:extLst>
                  <a:ext uri="{FF2B5EF4-FFF2-40B4-BE49-F238E27FC236}">
                    <a16:creationId xmlns:a16="http://schemas.microsoft.com/office/drawing/2014/main" id="{BA1553FC-B917-EE83-BF8C-2AC15DE29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810" y="1785314"/>
                <a:ext cx="7200380" cy="983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k: Yukarı 8">
            <a:extLst>
              <a:ext uri="{FF2B5EF4-FFF2-40B4-BE49-F238E27FC236}">
                <a16:creationId xmlns:a16="http://schemas.microsoft.com/office/drawing/2014/main" id="{5185DF01-A3CF-644C-56ED-9FC6F9DE5D8C}"/>
              </a:ext>
            </a:extLst>
          </p:cNvPr>
          <p:cNvSpPr/>
          <p:nvPr/>
        </p:nvSpPr>
        <p:spPr>
          <a:xfrm>
            <a:off x="2931778" y="2724251"/>
            <a:ext cx="333286" cy="991312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>
                <a:solidFill>
                  <a:srgbClr val="FFFF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10" name="Ok: Yukarı 9">
            <a:extLst>
              <a:ext uri="{FF2B5EF4-FFF2-40B4-BE49-F238E27FC236}">
                <a16:creationId xmlns:a16="http://schemas.microsoft.com/office/drawing/2014/main" id="{491DAD26-2B14-CF22-BAE4-DA540D6A42F4}"/>
              </a:ext>
            </a:extLst>
          </p:cNvPr>
          <p:cNvSpPr/>
          <p:nvPr/>
        </p:nvSpPr>
        <p:spPr>
          <a:xfrm>
            <a:off x="8760295" y="2724251"/>
            <a:ext cx="333286" cy="991312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2060"/>
              </a:solidFill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F34C5168-9F71-4C66-24EF-B81B46077090}"/>
              </a:ext>
            </a:extLst>
          </p:cNvPr>
          <p:cNvSpPr txBox="1"/>
          <p:nvPr/>
        </p:nvSpPr>
        <p:spPr>
          <a:xfrm>
            <a:off x="8050516" y="4086919"/>
            <a:ext cx="208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>
                <a:solidFill>
                  <a:srgbClr val="002060"/>
                </a:solidFill>
              </a:rPr>
              <a:t>Türkiyeden</a:t>
            </a:r>
            <a:r>
              <a:rPr lang="tr-TR" b="1" dirty="0">
                <a:solidFill>
                  <a:srgbClr val="002060"/>
                </a:solidFill>
              </a:rPr>
              <a:t> bölgeye satışlarda ki 1 birimlik artış 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96DE35F-654E-DC0C-8159-E491283649CA}"/>
              </a:ext>
            </a:extLst>
          </p:cNvPr>
          <p:cNvSpPr txBox="1"/>
          <p:nvPr/>
        </p:nvSpPr>
        <p:spPr>
          <a:xfrm>
            <a:off x="2286570" y="4086919"/>
            <a:ext cx="1623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İhracatta 2,96 bin dolar artışa sebep olmakta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B4402FF4-69CB-6FF1-4E91-C0C36677E55E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00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12403E8E-1DDA-EDFE-6D24-24BF75E52A48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88BAF36-A868-644D-B544-7BA79CBE77F6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TÜRKİYEDEN BÖLGEYE SATIŞ</a:t>
            </a:r>
          </a:p>
        </p:txBody>
      </p:sp>
      <p:graphicFrame>
        <p:nvGraphicFramePr>
          <p:cNvPr id="7" name="Grafik 6">
            <a:extLst>
              <a:ext uri="{FF2B5EF4-FFF2-40B4-BE49-F238E27FC236}">
                <a16:creationId xmlns:a16="http://schemas.microsoft.com/office/drawing/2014/main" id="{AB561966-14E7-B915-4430-7065873F7D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3940711"/>
              </p:ext>
            </p:extLst>
          </p:nvPr>
        </p:nvGraphicFramePr>
        <p:xfrm>
          <a:off x="5838826" y="2171700"/>
          <a:ext cx="56769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Metin kutusu 7">
            <a:extLst>
              <a:ext uri="{FF2B5EF4-FFF2-40B4-BE49-F238E27FC236}">
                <a16:creationId xmlns:a16="http://schemas.microsoft.com/office/drawing/2014/main" id="{CDCCF808-326E-299B-A528-4D10DC0F37BF}"/>
              </a:ext>
            </a:extLst>
          </p:cNvPr>
          <p:cNvSpPr txBox="1"/>
          <p:nvPr/>
        </p:nvSpPr>
        <p:spPr>
          <a:xfrm>
            <a:off x="6528399" y="5269919"/>
            <a:ext cx="4565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002060"/>
                </a:solidFill>
              </a:rPr>
              <a:t>2013     2014     2015     2016     2017     2018     2019     2020      2021     2022     2023    2024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B807443-154B-E5B4-FF6B-4D3733C68AD8}"/>
              </a:ext>
            </a:extLst>
          </p:cNvPr>
          <p:cNvSpPr txBox="1"/>
          <p:nvPr/>
        </p:nvSpPr>
        <p:spPr>
          <a:xfrm>
            <a:off x="569624" y="1724330"/>
            <a:ext cx="4016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2013-2018 arasında hem satışlar hem ihracat dalgalı ama nispeten düşük seviyelerde.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A43138E-841D-0CB4-A789-503620C95807}"/>
              </a:ext>
            </a:extLst>
          </p:cNvPr>
          <p:cNvSpPr txBox="1"/>
          <p:nvPr/>
        </p:nvSpPr>
        <p:spPr>
          <a:xfrm>
            <a:off x="569624" y="3135922"/>
            <a:ext cx="41361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2019’dan itibaren belirgin bir artış başlamış, 2021-2022’de güçlü bir yükseliş var.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F0F7B48-5528-93EE-80A9-2C2AEFB986D2}"/>
              </a:ext>
            </a:extLst>
          </p:cNvPr>
          <p:cNvSpPr txBox="1"/>
          <p:nvPr/>
        </p:nvSpPr>
        <p:spPr>
          <a:xfrm>
            <a:off x="569624" y="4537431"/>
            <a:ext cx="384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2023’te zirveye ulaşılmış, 2024’te ise hafif bir gerileme olmuş.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DA0559C-DA04-D964-CB9D-C9F7F0BDD284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0C2046E-1205-C0A6-A7D9-E27775635BAD}"/>
              </a:ext>
            </a:extLst>
          </p:cNvPr>
          <p:cNvSpPr txBox="1"/>
          <p:nvPr/>
        </p:nvSpPr>
        <p:spPr>
          <a:xfrm>
            <a:off x="569624" y="275917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4CC1A6B-5018-E134-F0CB-613171312875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TÜRKİYEDEN BÖLGEYE SATIŞ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A4B7BAE9-C52F-3D6A-39D1-A7E3FE6AB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54979"/>
              </p:ext>
            </p:extLst>
          </p:nvPr>
        </p:nvGraphicFramePr>
        <p:xfrm>
          <a:off x="3130611" y="1523224"/>
          <a:ext cx="6141575" cy="1811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320">
                  <a:extLst>
                    <a:ext uri="{9D8B030D-6E8A-4147-A177-3AD203B41FA5}">
                      <a16:colId xmlns:a16="http://schemas.microsoft.com/office/drawing/2014/main" val="118489468"/>
                    </a:ext>
                  </a:extLst>
                </a:gridCol>
                <a:gridCol w="1388355">
                  <a:extLst>
                    <a:ext uri="{9D8B030D-6E8A-4147-A177-3AD203B41FA5}">
                      <a16:colId xmlns:a16="http://schemas.microsoft.com/office/drawing/2014/main" val="204568043"/>
                    </a:ext>
                  </a:extLst>
                </a:gridCol>
                <a:gridCol w="1559231">
                  <a:extLst>
                    <a:ext uri="{9D8B030D-6E8A-4147-A177-3AD203B41FA5}">
                      <a16:colId xmlns:a16="http://schemas.microsoft.com/office/drawing/2014/main" val="3140763442"/>
                    </a:ext>
                  </a:extLst>
                </a:gridCol>
                <a:gridCol w="1644669">
                  <a:extLst>
                    <a:ext uri="{9D8B030D-6E8A-4147-A177-3AD203B41FA5}">
                      <a16:colId xmlns:a16="http://schemas.microsoft.com/office/drawing/2014/main" val="3112469602"/>
                    </a:ext>
                  </a:extLst>
                </a:gridCol>
              </a:tblGrid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1100" u="none" strike="noStrike" dirty="0">
                          <a:effectLst/>
                        </a:rPr>
                        <a:t> </a:t>
                      </a:r>
                      <a:endParaRPr lang="tr-T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P-değeri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Anlamlılık 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480713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32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   </a:t>
                      </a:r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Kesişim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0,75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A00000"/>
                          </a:solidFill>
                          <a:effectLst/>
                          <a:latin typeface="Calibri" panose="020F0502020204030204" pitchFamily="34" charset="0"/>
                        </a:rPr>
                        <a:t>83,6382676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3,58193E-06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89109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İSTİHDAM(X1)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93773"/>
                  </a:ext>
                </a:extLst>
              </a:tr>
            </a:tbl>
          </a:graphicData>
        </a:graphic>
      </p:graphicFrame>
      <p:cxnSp>
        <p:nvCxnSpPr>
          <p:cNvPr id="5" name="Bağlayıcı: Dirsek 4">
            <a:extLst>
              <a:ext uri="{FF2B5EF4-FFF2-40B4-BE49-F238E27FC236}">
                <a16:creationId xmlns:a16="http://schemas.microsoft.com/office/drawing/2014/main" id="{506E93FF-A793-A5B3-A103-65B3E2DD1F00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6858452" y="2924386"/>
            <a:ext cx="1772348" cy="14143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Bağlayıcı: Dirsek 5">
            <a:extLst>
              <a:ext uri="{FF2B5EF4-FFF2-40B4-BE49-F238E27FC236}">
                <a16:creationId xmlns:a16="http://schemas.microsoft.com/office/drawing/2014/main" id="{41D56AE4-3CD5-DDD4-4BF6-32A9D43C551A}"/>
              </a:ext>
            </a:extLst>
          </p:cNvPr>
          <p:cNvCxnSpPr>
            <a:cxnSpLocks/>
          </p:cNvCxnSpPr>
          <p:nvPr/>
        </p:nvCxnSpPr>
        <p:spPr>
          <a:xfrm rot="5400000">
            <a:off x="4750138" y="3444766"/>
            <a:ext cx="1049508" cy="807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>
            <a:extLst>
              <a:ext uri="{FF2B5EF4-FFF2-40B4-BE49-F238E27FC236}">
                <a16:creationId xmlns:a16="http://schemas.microsoft.com/office/drawing/2014/main" id="{6CE6ED73-86EA-B99D-44DF-2E69C002186E}"/>
              </a:ext>
            </a:extLst>
          </p:cNvPr>
          <p:cNvSpPr txBox="1"/>
          <p:nvPr/>
        </p:nvSpPr>
        <p:spPr>
          <a:xfrm>
            <a:off x="3888337" y="4517725"/>
            <a:ext cx="1965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P-DEĞERİ&lt;0,05 </a:t>
            </a:r>
            <a:r>
              <a:rPr lang="tr-TR" sz="1600" dirty="0">
                <a:solidFill>
                  <a:srgbClr val="002060"/>
                </a:solidFill>
              </a:rPr>
              <a:t>İSTATİSTİKSEL OLARAK ANLAMLAI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F81B500-C438-D875-CDC7-699D46FF4440}"/>
              </a:ext>
            </a:extLst>
          </p:cNvPr>
          <p:cNvSpPr txBox="1"/>
          <p:nvPr/>
        </p:nvSpPr>
        <p:spPr>
          <a:xfrm>
            <a:off x="7037462" y="4517725"/>
            <a:ext cx="282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F DEĞERİ&gt;ANLAMLILIK F </a:t>
            </a:r>
            <a:r>
              <a:rPr lang="tr-TR" sz="1600" dirty="0">
                <a:solidFill>
                  <a:srgbClr val="002060"/>
                </a:solidFill>
              </a:rPr>
              <a:t>MODEL İSTATİSTİKSEL OLARAK ANLAMLI 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D2C52B9-4A7A-596C-1CE4-9608850CE9BE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495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AE436A3-3C3C-9C08-121B-5B802D400D8C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TÜRKİYEDEN BÖLGEYE SATIŞ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35169C8-4A49-7291-D1A8-3BA4E9BD9147}"/>
              </a:ext>
            </a:extLst>
          </p:cNvPr>
          <p:cNvSpPr txBox="1"/>
          <p:nvPr/>
        </p:nvSpPr>
        <p:spPr>
          <a:xfrm>
            <a:off x="569624" y="352861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etin kutusu 9">
                <a:extLst>
                  <a:ext uri="{FF2B5EF4-FFF2-40B4-BE49-F238E27FC236}">
                    <a16:creationId xmlns:a16="http://schemas.microsoft.com/office/drawing/2014/main" id="{D31215BE-F008-3B21-49B7-072BEE3FAC27}"/>
                  </a:ext>
                </a:extLst>
              </p:cNvPr>
              <p:cNvSpPr txBox="1"/>
              <p:nvPr/>
            </p:nvSpPr>
            <p:spPr>
              <a:xfrm>
                <a:off x="1788344" y="1845482"/>
                <a:ext cx="861531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𝑬𝑿𝑷</m:t>
                      </m:r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32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32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𝟓𝟑𝟑𝟑𝟏𝟏𝟗𝟏</m:t>
                          </m:r>
                          <m:r>
                            <a:rPr lang="tr-TR" sz="32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32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𝟕𝟏</m:t>
                          </m:r>
                        </m:e>
                      </m:d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𝟏𝟑𝟓𝟕𝟔</m:t>
                      </m:r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tr-TR" sz="32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tr-TR" sz="32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𝑵𝑶𝑳𝑷</m:t>
                      </m:r>
                    </m:oMath>
                  </m:oMathPara>
                </a14:m>
                <a:endParaRPr lang="tr-TR" sz="3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Metin kutusu 9">
                <a:extLst>
                  <a:ext uri="{FF2B5EF4-FFF2-40B4-BE49-F238E27FC236}">
                    <a16:creationId xmlns:a16="http://schemas.microsoft.com/office/drawing/2014/main" id="{D31215BE-F008-3B21-49B7-072BEE3FA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344" y="1845482"/>
                <a:ext cx="861531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k: Yukarı 10">
            <a:extLst>
              <a:ext uri="{FF2B5EF4-FFF2-40B4-BE49-F238E27FC236}">
                <a16:creationId xmlns:a16="http://schemas.microsoft.com/office/drawing/2014/main" id="{3B136759-572F-2991-D8CA-F73EB3C3AABB}"/>
              </a:ext>
            </a:extLst>
          </p:cNvPr>
          <p:cNvSpPr/>
          <p:nvPr/>
        </p:nvSpPr>
        <p:spPr>
          <a:xfrm>
            <a:off x="2119927" y="2724251"/>
            <a:ext cx="333286" cy="991312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>
                <a:solidFill>
                  <a:srgbClr val="FFFF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12" name="Ok: Yukarı 11">
            <a:extLst>
              <a:ext uri="{FF2B5EF4-FFF2-40B4-BE49-F238E27FC236}">
                <a16:creationId xmlns:a16="http://schemas.microsoft.com/office/drawing/2014/main" id="{9A5C9F8D-9370-1B8B-FA95-01588564501D}"/>
              </a:ext>
            </a:extLst>
          </p:cNvPr>
          <p:cNvSpPr/>
          <p:nvPr/>
        </p:nvSpPr>
        <p:spPr>
          <a:xfrm>
            <a:off x="9555054" y="2724251"/>
            <a:ext cx="333286" cy="991312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2060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12D5529-FB0E-95F8-4775-CD3CA4247541}"/>
              </a:ext>
            </a:extLst>
          </p:cNvPr>
          <p:cNvSpPr txBox="1"/>
          <p:nvPr/>
        </p:nvSpPr>
        <p:spPr>
          <a:xfrm>
            <a:off x="8845275" y="4293784"/>
            <a:ext cx="208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Faaliyet ruhsat sayısı üretim ki 1 birimlik artış 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802D9C8A-70AA-0370-599D-05D402C6ABB3}"/>
              </a:ext>
            </a:extLst>
          </p:cNvPr>
          <p:cNvSpPr txBox="1"/>
          <p:nvPr/>
        </p:nvSpPr>
        <p:spPr>
          <a:xfrm>
            <a:off x="1641362" y="4155285"/>
            <a:ext cx="1623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İhracatta 13576,64 bin dolar artışa sebep olmakta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D8B20F-F6B2-931A-1914-E3FA009DACAB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5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DB87631-331A-D9EE-208C-098CB90748F9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FAALİYET RUHSAT SAYISI ÜRETİM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8BFC1A1-EB72-0A1C-E33F-3923164D2725}"/>
              </a:ext>
            </a:extLst>
          </p:cNvPr>
          <p:cNvSpPr txBox="1"/>
          <p:nvPr/>
        </p:nvSpPr>
        <p:spPr>
          <a:xfrm>
            <a:off x="569624" y="352861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p:graphicFrame>
        <p:nvGraphicFramePr>
          <p:cNvPr id="8" name="Grafik 7">
            <a:extLst>
              <a:ext uri="{FF2B5EF4-FFF2-40B4-BE49-F238E27FC236}">
                <a16:creationId xmlns:a16="http://schemas.microsoft.com/office/drawing/2014/main" id="{27685CA4-F75A-278C-483F-788CA10A88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141028"/>
              </p:ext>
            </p:extLst>
          </p:nvPr>
        </p:nvGraphicFramePr>
        <p:xfrm>
          <a:off x="5876925" y="2039452"/>
          <a:ext cx="5529263" cy="3599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Metin kutusu 8">
            <a:extLst>
              <a:ext uri="{FF2B5EF4-FFF2-40B4-BE49-F238E27FC236}">
                <a16:creationId xmlns:a16="http://schemas.microsoft.com/office/drawing/2014/main" id="{92DB9AA9-CF95-21A3-60CE-4161C1DF486E}"/>
              </a:ext>
            </a:extLst>
          </p:cNvPr>
          <p:cNvSpPr txBox="1"/>
          <p:nvPr/>
        </p:nvSpPr>
        <p:spPr>
          <a:xfrm>
            <a:off x="569624" y="1614745"/>
            <a:ext cx="4016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2013-2018 arasında ruhsat sayısı ve ihracat yatay bir seyir izlemiş.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56DE962D-840E-3EFA-8AB7-31DF58414387}"/>
              </a:ext>
            </a:extLst>
          </p:cNvPr>
          <p:cNvSpPr txBox="1"/>
          <p:nvPr/>
        </p:nvSpPr>
        <p:spPr>
          <a:xfrm>
            <a:off x="569624" y="2669215"/>
            <a:ext cx="41361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2019’dan itibaren ruhsat sayısında artış başlamış, özellikle 2021-2022’de hızlı bir yükseliş </a:t>
            </a:r>
            <a:r>
              <a:rPr lang="tr-TR" sz="2000" dirty="0" err="1">
                <a:solidFill>
                  <a:srgbClr val="002060"/>
                </a:solidFill>
              </a:rPr>
              <a:t>olmuş.Ruhsat</a:t>
            </a:r>
            <a:r>
              <a:rPr lang="tr-TR" sz="2000" dirty="0">
                <a:solidFill>
                  <a:srgbClr val="002060"/>
                </a:solidFill>
              </a:rPr>
              <a:t> sayısındaki bu artışla birlikte ihracatta da ciddi bir artış gözlemlenmiş.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AB436F8-5FE3-B6E0-589D-65533249D8C3}"/>
              </a:ext>
            </a:extLst>
          </p:cNvPr>
          <p:cNvSpPr txBox="1"/>
          <p:nvPr/>
        </p:nvSpPr>
        <p:spPr>
          <a:xfrm>
            <a:off x="569624" y="4537431"/>
            <a:ext cx="3845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2023 ve 2024’te ruhsat sayısı yüksek seviyelerde kalırken ihracat da bu seviyeyi korumuş.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4D185D3B-0F06-6EFB-C9F7-7845A5934836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195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1E703A33-4B80-17DA-2C07-B205D1254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96256"/>
              </p:ext>
            </p:extLst>
          </p:nvPr>
        </p:nvGraphicFramePr>
        <p:xfrm>
          <a:off x="3130611" y="1523224"/>
          <a:ext cx="6141575" cy="1811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320">
                  <a:extLst>
                    <a:ext uri="{9D8B030D-6E8A-4147-A177-3AD203B41FA5}">
                      <a16:colId xmlns:a16="http://schemas.microsoft.com/office/drawing/2014/main" val="118489468"/>
                    </a:ext>
                  </a:extLst>
                </a:gridCol>
                <a:gridCol w="1388355">
                  <a:extLst>
                    <a:ext uri="{9D8B030D-6E8A-4147-A177-3AD203B41FA5}">
                      <a16:colId xmlns:a16="http://schemas.microsoft.com/office/drawing/2014/main" val="204568043"/>
                    </a:ext>
                  </a:extLst>
                </a:gridCol>
                <a:gridCol w="1559231">
                  <a:extLst>
                    <a:ext uri="{9D8B030D-6E8A-4147-A177-3AD203B41FA5}">
                      <a16:colId xmlns:a16="http://schemas.microsoft.com/office/drawing/2014/main" val="3140763442"/>
                    </a:ext>
                  </a:extLst>
                </a:gridCol>
                <a:gridCol w="1644669">
                  <a:extLst>
                    <a:ext uri="{9D8B030D-6E8A-4147-A177-3AD203B41FA5}">
                      <a16:colId xmlns:a16="http://schemas.microsoft.com/office/drawing/2014/main" val="3112469602"/>
                    </a:ext>
                  </a:extLst>
                </a:gridCol>
              </a:tblGrid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1100" u="none" strike="noStrike" dirty="0">
                          <a:effectLst/>
                        </a:rPr>
                        <a:t> </a:t>
                      </a:r>
                      <a:endParaRPr lang="tr-T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P-değeri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Anlamlılık 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480713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32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   </a:t>
                      </a:r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Kesişim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A00000"/>
                          </a:solidFill>
                          <a:effectLst/>
                          <a:latin typeface="Calibri" panose="020F0502020204030204" pitchFamily="34" charset="0"/>
                        </a:rPr>
                        <a:t>140,5237496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3,27687E-07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89109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İSTİHDAM(X1)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93773"/>
                  </a:ext>
                </a:extLst>
              </a:tr>
            </a:tbl>
          </a:graphicData>
        </a:graphic>
      </p:graphicFrame>
      <p:cxnSp>
        <p:nvCxnSpPr>
          <p:cNvPr id="3" name="Bağlayıcı: Dirsek 2">
            <a:extLst>
              <a:ext uri="{FF2B5EF4-FFF2-40B4-BE49-F238E27FC236}">
                <a16:creationId xmlns:a16="http://schemas.microsoft.com/office/drawing/2014/main" id="{DC7EC807-FE21-A764-79CE-289DB22D33DB}"/>
              </a:ext>
            </a:extLst>
          </p:cNvPr>
          <p:cNvCxnSpPr>
            <a:cxnSpLocks/>
            <a:endCxn id="6" idx="0"/>
          </p:cNvCxnSpPr>
          <p:nvPr/>
        </p:nvCxnSpPr>
        <p:spPr>
          <a:xfrm rot="16200000" flipH="1">
            <a:off x="6858452" y="2924386"/>
            <a:ext cx="1772348" cy="14143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Bağlayıcı: Dirsek 3">
            <a:extLst>
              <a:ext uri="{FF2B5EF4-FFF2-40B4-BE49-F238E27FC236}">
                <a16:creationId xmlns:a16="http://schemas.microsoft.com/office/drawing/2014/main" id="{3609F4F0-B1C4-04F2-0E84-068A5F710A07}"/>
              </a:ext>
            </a:extLst>
          </p:cNvPr>
          <p:cNvCxnSpPr>
            <a:cxnSpLocks/>
          </p:cNvCxnSpPr>
          <p:nvPr/>
        </p:nvCxnSpPr>
        <p:spPr>
          <a:xfrm rot="5400000">
            <a:off x="4750138" y="3444766"/>
            <a:ext cx="1049508" cy="807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BB0A2C25-DFAB-DE71-E95C-B10F25A16C30}"/>
              </a:ext>
            </a:extLst>
          </p:cNvPr>
          <p:cNvSpPr txBox="1"/>
          <p:nvPr/>
        </p:nvSpPr>
        <p:spPr>
          <a:xfrm>
            <a:off x="3888337" y="4517725"/>
            <a:ext cx="1965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P-DEĞERİ&lt;0,05 </a:t>
            </a:r>
            <a:r>
              <a:rPr lang="tr-TR" sz="1600" dirty="0">
                <a:solidFill>
                  <a:srgbClr val="002060"/>
                </a:solidFill>
              </a:rPr>
              <a:t>İSTATİSTİKSEL OLARAK ANLAMLAI 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0142CA0-183B-8606-E93E-2D9D834AF558}"/>
              </a:ext>
            </a:extLst>
          </p:cNvPr>
          <p:cNvSpPr txBox="1"/>
          <p:nvPr/>
        </p:nvSpPr>
        <p:spPr>
          <a:xfrm>
            <a:off x="7037462" y="4517725"/>
            <a:ext cx="282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F DEĞERİ&gt;ANLAMLILIK F </a:t>
            </a:r>
            <a:r>
              <a:rPr lang="tr-TR" sz="1600" dirty="0">
                <a:solidFill>
                  <a:srgbClr val="002060"/>
                </a:solidFill>
              </a:rPr>
              <a:t>MODEL İSTATİSTİKSEL OLARAK ANLAMLI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DA7B4C1-B8B1-AB04-6FCC-C75E6B1292F0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FAALİYET RUHSAT SAYISI ÜRETİM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A542FDD-31BB-4896-A853-5DB8E96030AC}"/>
              </a:ext>
            </a:extLst>
          </p:cNvPr>
          <p:cNvSpPr txBox="1"/>
          <p:nvPr/>
        </p:nvSpPr>
        <p:spPr>
          <a:xfrm>
            <a:off x="569624" y="352861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83AB2D4-460A-E973-751E-D7ECBDB2309D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60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49C5124-8FC5-F7A5-8C15-92059687F906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TİCARET HACMİ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BB2AB33-3EC3-B0AD-49D9-0638AE92063A}"/>
              </a:ext>
            </a:extLst>
          </p:cNvPr>
          <p:cNvSpPr txBox="1"/>
          <p:nvPr/>
        </p:nvSpPr>
        <p:spPr>
          <a:xfrm>
            <a:off x="569624" y="420280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75663C2D-38DA-A1A4-9F2E-ECCAC35B9D41}"/>
                  </a:ext>
                </a:extLst>
              </p:cNvPr>
              <p:cNvSpPr txBox="1"/>
              <p:nvPr/>
            </p:nvSpPr>
            <p:spPr>
              <a:xfrm>
                <a:off x="1812845" y="1918292"/>
                <a:ext cx="861531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𝑬𝑿𝑷</m:t>
                      </m:r>
                      <m:r>
                        <a:rPr lang="tr-TR" sz="36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tr-TR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tr-TR" sz="3600" b="1">
                              <a:solidFill>
                                <a:srgbClr val="002060"/>
                              </a:solidFill>
                            </a:rPr>
                            <m:t>530045,39</m:t>
                          </m:r>
                        </m:e>
                      </m:d>
                      <m:r>
                        <a:rPr lang="tr-TR" sz="36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tr-TR" sz="3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tr-TR" sz="36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tr-TR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𝒕𝒗</m:t>
                      </m:r>
                    </m:oMath>
                  </m:oMathPara>
                </a14:m>
                <a:endParaRPr lang="tr-TR" sz="3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75663C2D-38DA-A1A4-9F2E-ECCAC35B9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845" y="1918292"/>
                <a:ext cx="861531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k: Yukarı 12">
            <a:extLst>
              <a:ext uri="{FF2B5EF4-FFF2-40B4-BE49-F238E27FC236}">
                <a16:creationId xmlns:a16="http://schemas.microsoft.com/office/drawing/2014/main" id="{5B366062-5E64-EAD4-E9C0-A56D9E7D70DE}"/>
              </a:ext>
            </a:extLst>
          </p:cNvPr>
          <p:cNvSpPr/>
          <p:nvPr/>
        </p:nvSpPr>
        <p:spPr>
          <a:xfrm>
            <a:off x="3228035" y="2759130"/>
            <a:ext cx="333286" cy="991312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>
                <a:solidFill>
                  <a:srgbClr val="FFFF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14" name="Ok: Yukarı 13">
            <a:extLst>
              <a:ext uri="{FF2B5EF4-FFF2-40B4-BE49-F238E27FC236}">
                <a16:creationId xmlns:a16="http://schemas.microsoft.com/office/drawing/2014/main" id="{CA3A15B3-1F70-2294-004E-6A051D361171}"/>
              </a:ext>
            </a:extLst>
          </p:cNvPr>
          <p:cNvSpPr/>
          <p:nvPr/>
        </p:nvSpPr>
        <p:spPr>
          <a:xfrm>
            <a:off x="8678632" y="2818790"/>
            <a:ext cx="333286" cy="991312"/>
          </a:xfrm>
          <a:prstGeom prst="up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2060"/>
              </a:solidFill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B404AD1C-A5B9-AAD6-60C5-393F5305963A}"/>
              </a:ext>
            </a:extLst>
          </p:cNvPr>
          <p:cNvSpPr txBox="1"/>
          <p:nvPr/>
        </p:nvSpPr>
        <p:spPr>
          <a:xfrm>
            <a:off x="7888146" y="4293378"/>
            <a:ext cx="208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Faaliyet ruhsat sayısı üretim ki 1 birimlik artış 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DF46D3D6-C964-D85F-1E27-6F0DA19B3F15}"/>
              </a:ext>
            </a:extLst>
          </p:cNvPr>
          <p:cNvSpPr txBox="1"/>
          <p:nvPr/>
        </p:nvSpPr>
        <p:spPr>
          <a:xfrm>
            <a:off x="2749470" y="4293378"/>
            <a:ext cx="1623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2060"/>
                </a:solidFill>
              </a:rPr>
              <a:t>İhracatta 13576,64 bin dolar artışa sebep olmakta 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2E1FFF3-B5CA-2BFF-56BE-DAF01F76652B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70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F174AB6-57A4-FE71-6DAA-F930DF2F2F37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4E15134-EE63-F00E-8AF7-3AA023D6407B}"/>
              </a:ext>
            </a:extLst>
          </p:cNvPr>
          <p:cNvSpPr txBox="1"/>
          <p:nvPr/>
        </p:nvSpPr>
        <p:spPr>
          <a:xfrm>
            <a:off x="569624" y="420280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5E13376-F0D0-606F-412F-8723BB688982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TİCARET HACMİ </a:t>
            </a:r>
          </a:p>
        </p:txBody>
      </p:sp>
      <p:graphicFrame>
        <p:nvGraphicFramePr>
          <p:cNvPr id="6" name="Grafik 5">
            <a:extLst>
              <a:ext uri="{FF2B5EF4-FFF2-40B4-BE49-F238E27FC236}">
                <a16:creationId xmlns:a16="http://schemas.microsoft.com/office/drawing/2014/main" id="{288342BE-3BC3-4975-747B-176B2F827B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0323854"/>
              </p:ext>
            </p:extLst>
          </p:nvPr>
        </p:nvGraphicFramePr>
        <p:xfrm>
          <a:off x="5760417" y="1790655"/>
          <a:ext cx="5705475" cy="3659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CA7B8425-7F7B-CAB3-DFB6-9B03F4E60781}"/>
              </a:ext>
            </a:extLst>
          </p:cNvPr>
          <p:cNvSpPr txBox="1"/>
          <p:nvPr/>
        </p:nvSpPr>
        <p:spPr>
          <a:xfrm>
            <a:off x="6443747" y="5046880"/>
            <a:ext cx="4565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002060"/>
                </a:solidFill>
              </a:rPr>
              <a:t>2013     2014     2015     2016     2017     2018     2019     2020      2021     2022     2023    2024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E5C82C9-D1DA-9703-341F-0FDA7F24CF37}"/>
              </a:ext>
            </a:extLst>
          </p:cNvPr>
          <p:cNvSpPr txBox="1"/>
          <p:nvPr/>
        </p:nvSpPr>
        <p:spPr>
          <a:xfrm>
            <a:off x="569624" y="1614745"/>
            <a:ext cx="4016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2013-2019 arasında ihracat ve ticaret hacmi görece dengeli bir şekilde artıp azalmış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7B6FB8A-60A1-7161-EB31-FBDAD3CA4374}"/>
              </a:ext>
            </a:extLst>
          </p:cNvPr>
          <p:cNvSpPr txBox="1"/>
          <p:nvPr/>
        </p:nvSpPr>
        <p:spPr>
          <a:xfrm>
            <a:off x="569624" y="3034577"/>
            <a:ext cx="4136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2020’den sonra hızlı bir artış başlıyor, 2022’de zirveye çıkıyor.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C6C9C0E1-DBA4-4D49-ACCC-D2EECEF952F5}"/>
              </a:ext>
            </a:extLst>
          </p:cNvPr>
          <p:cNvSpPr txBox="1"/>
          <p:nvPr/>
        </p:nvSpPr>
        <p:spPr>
          <a:xfrm>
            <a:off x="569624" y="4146633"/>
            <a:ext cx="3845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rgbClr val="002060"/>
                </a:solidFill>
              </a:rPr>
              <a:t>2023 ve 2024’te ise hem ticaret hacminde hem de ihracatta küçük bir düşüş var.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689881C-7608-89D0-817D-6B58A674E19D}"/>
              </a:ext>
            </a:extLst>
          </p:cNvPr>
          <p:cNvSpPr txBox="1"/>
          <p:nvPr/>
        </p:nvSpPr>
        <p:spPr>
          <a:xfrm>
            <a:off x="0" y="6362922"/>
            <a:ext cx="11668836" cy="495078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950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1DBF536-A002-DA4B-E04D-4568414AF021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C457305-F9EA-927B-34C5-072EBF13906F}"/>
              </a:ext>
            </a:extLst>
          </p:cNvPr>
          <p:cNvSpPr txBox="1"/>
          <p:nvPr/>
        </p:nvSpPr>
        <p:spPr>
          <a:xfrm>
            <a:off x="569624" y="420280"/>
            <a:ext cx="61007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300" b="1" dirty="0">
                <a:solidFill>
                  <a:srgbClr val="A00000"/>
                </a:solidFill>
              </a:rPr>
              <a:t>MODEL VE DEĞİŞKENLER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2567F81-F56B-798F-F0C3-5DE9FD2224A5}"/>
              </a:ext>
            </a:extLst>
          </p:cNvPr>
          <p:cNvSpPr txBox="1"/>
          <p:nvPr/>
        </p:nvSpPr>
        <p:spPr>
          <a:xfrm>
            <a:off x="569624" y="799137"/>
            <a:ext cx="11412772" cy="369332"/>
          </a:xfrm>
          <a:prstGeom prst="rect">
            <a:avLst/>
          </a:prstGeom>
          <a:solidFill>
            <a:srgbClr val="A00000"/>
          </a:solidFill>
        </p:spPr>
        <p:txBody>
          <a:bodyPr wrap="square" rtlCol="0">
            <a:spAutoFit/>
          </a:bodyPr>
          <a:lstStyle>
            <a:defPPr>
              <a:defRPr lang="tr-TR"/>
            </a:defPPr>
            <a:lvl1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b="1" kern="0">
                <a:solidFill>
                  <a:schemeClr val="bg1"/>
                </a:solidFill>
                <a:latin typeface="Myriad Pro" panose="020B0503030403020204" charset="0"/>
              </a:defRPr>
            </a:lvl1pPr>
          </a:lstStyle>
          <a:p>
            <a:r>
              <a:rPr lang="tr-TR" dirty="0">
                <a:solidFill>
                  <a:srgbClr val="FFFFFF"/>
                </a:solidFill>
              </a:rPr>
              <a:t>TİCARET HACMİ </a:t>
            </a: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B1158968-514D-F98A-1DF1-5E1AB3C94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32119"/>
              </p:ext>
            </p:extLst>
          </p:nvPr>
        </p:nvGraphicFramePr>
        <p:xfrm>
          <a:off x="3130611" y="1523224"/>
          <a:ext cx="6141575" cy="18117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320">
                  <a:extLst>
                    <a:ext uri="{9D8B030D-6E8A-4147-A177-3AD203B41FA5}">
                      <a16:colId xmlns:a16="http://schemas.microsoft.com/office/drawing/2014/main" val="118489468"/>
                    </a:ext>
                  </a:extLst>
                </a:gridCol>
                <a:gridCol w="1388355">
                  <a:extLst>
                    <a:ext uri="{9D8B030D-6E8A-4147-A177-3AD203B41FA5}">
                      <a16:colId xmlns:a16="http://schemas.microsoft.com/office/drawing/2014/main" val="204568043"/>
                    </a:ext>
                  </a:extLst>
                </a:gridCol>
                <a:gridCol w="1559231">
                  <a:extLst>
                    <a:ext uri="{9D8B030D-6E8A-4147-A177-3AD203B41FA5}">
                      <a16:colId xmlns:a16="http://schemas.microsoft.com/office/drawing/2014/main" val="3140763442"/>
                    </a:ext>
                  </a:extLst>
                </a:gridCol>
                <a:gridCol w="1644669">
                  <a:extLst>
                    <a:ext uri="{9D8B030D-6E8A-4147-A177-3AD203B41FA5}">
                      <a16:colId xmlns:a16="http://schemas.microsoft.com/office/drawing/2014/main" val="3112469602"/>
                    </a:ext>
                  </a:extLst>
                </a:gridCol>
              </a:tblGrid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1100" u="none" strike="noStrike" dirty="0">
                          <a:effectLst/>
                        </a:rPr>
                        <a:t> </a:t>
                      </a:r>
                      <a:endParaRPr lang="tr-T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P-değeri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Anlamlılık F</a:t>
                      </a:r>
                      <a:endParaRPr lang="tr-TR" sz="2000" b="1" i="1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480713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32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   </a:t>
                      </a:r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Kesişim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0,69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A00000"/>
                          </a:solidFill>
                          <a:effectLst/>
                          <a:latin typeface="Calibri" panose="020F0502020204030204" pitchFamily="34" charset="0"/>
                        </a:rPr>
                        <a:t>55,47133655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2,1903E-05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891096"/>
                  </a:ext>
                </a:extLst>
              </a:tr>
              <a:tr h="603903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  <a:latin typeface="MyriD PRO"/>
                        </a:rPr>
                        <a:t>İSTİHDAM(X1)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MyriD PR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A00000"/>
                          </a:solidFill>
                          <a:effectLst/>
                        </a:rPr>
                        <a:t>0,00</a:t>
                      </a:r>
                      <a:endParaRPr lang="tr-TR" sz="2000" b="1" i="0" u="none" strike="noStrike" dirty="0">
                        <a:solidFill>
                          <a:srgbClr val="A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tr-TR" sz="20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093773"/>
                  </a:ext>
                </a:extLst>
              </a:tr>
            </a:tbl>
          </a:graphicData>
        </a:graphic>
      </p:graphicFrame>
      <p:cxnSp>
        <p:nvCxnSpPr>
          <p:cNvPr id="10" name="Bağlayıcı: Dirsek 9">
            <a:extLst>
              <a:ext uri="{FF2B5EF4-FFF2-40B4-BE49-F238E27FC236}">
                <a16:creationId xmlns:a16="http://schemas.microsoft.com/office/drawing/2014/main" id="{5D6067AE-1C9E-71C5-3AD1-7065761F133A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6858452" y="2924386"/>
            <a:ext cx="1772348" cy="14143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ağlayıcı: Dirsek 10">
            <a:extLst>
              <a:ext uri="{FF2B5EF4-FFF2-40B4-BE49-F238E27FC236}">
                <a16:creationId xmlns:a16="http://schemas.microsoft.com/office/drawing/2014/main" id="{1E0FDE7A-15FF-C5C9-7A8E-D748FC80FB36}"/>
              </a:ext>
            </a:extLst>
          </p:cNvPr>
          <p:cNvCxnSpPr>
            <a:cxnSpLocks/>
          </p:cNvCxnSpPr>
          <p:nvPr/>
        </p:nvCxnSpPr>
        <p:spPr>
          <a:xfrm rot="5400000">
            <a:off x="4750138" y="3444766"/>
            <a:ext cx="1049508" cy="8075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B2871D58-0C95-9388-F15D-7C5CD26153D0}"/>
              </a:ext>
            </a:extLst>
          </p:cNvPr>
          <p:cNvSpPr txBox="1"/>
          <p:nvPr/>
        </p:nvSpPr>
        <p:spPr>
          <a:xfrm>
            <a:off x="3888337" y="4517725"/>
            <a:ext cx="1965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P-DEĞERİ&lt;0,05 </a:t>
            </a:r>
            <a:r>
              <a:rPr lang="tr-TR" sz="1600" dirty="0">
                <a:solidFill>
                  <a:srgbClr val="002060"/>
                </a:solidFill>
              </a:rPr>
              <a:t>İSTATİSTİKSEL OLARAK ANLAMLAI 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B3785283-ABC9-A618-E514-A534F5E5FB46}"/>
              </a:ext>
            </a:extLst>
          </p:cNvPr>
          <p:cNvSpPr txBox="1"/>
          <p:nvPr/>
        </p:nvSpPr>
        <p:spPr>
          <a:xfrm>
            <a:off x="7037462" y="4517725"/>
            <a:ext cx="282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rgbClr val="002060"/>
                </a:solidFill>
              </a:rPr>
              <a:t>F DEĞERİ&gt;ANLAMLILIK F </a:t>
            </a:r>
            <a:r>
              <a:rPr lang="tr-TR" sz="1600" dirty="0">
                <a:solidFill>
                  <a:srgbClr val="002060"/>
                </a:solidFill>
              </a:rPr>
              <a:t>MODEL İSTATİSTİKSEL OLARAK ANLAMLI </a:t>
            </a:r>
          </a:p>
        </p:txBody>
      </p:sp>
    </p:spTree>
    <p:extLst>
      <p:ext uri="{BB962C8B-B14F-4D97-AF65-F5344CB8AC3E}">
        <p14:creationId xmlns:p14="http://schemas.microsoft.com/office/powerpoint/2010/main" val="2318327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7F8C56B1-0CE5-48AA-81BA-78971A8033EC}"/>
              </a:ext>
            </a:extLst>
          </p:cNvPr>
          <p:cNvSpPr/>
          <p:nvPr/>
        </p:nvSpPr>
        <p:spPr>
          <a:xfrm>
            <a:off x="4065443" y="3167390"/>
            <a:ext cx="45009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chemeClr val="bg1"/>
                </a:solidFill>
                <a:latin typeface="Myriad Pro" panose="020B0503030403020204" pitchFamily="34" charset="0"/>
              </a:rPr>
              <a:t>Teşekkürler/Arz ederim.</a:t>
            </a:r>
          </a:p>
        </p:txBody>
      </p:sp>
    </p:spTree>
    <p:extLst>
      <p:ext uri="{BB962C8B-B14F-4D97-AF65-F5344CB8AC3E}">
        <p14:creationId xmlns:p14="http://schemas.microsoft.com/office/powerpoint/2010/main" val="1047535905"/>
      </p:ext>
    </p:extLst>
  </p:cSld>
  <p:clrMapOvr>
    <a:masterClrMapping/>
  </p:clrMapOvr>
</p:sld>
</file>

<file path=ppt/theme/theme1.xml><?xml version="1.0" encoding="utf-8"?>
<a:theme xmlns:a="http://schemas.openxmlformats.org/drawingml/2006/main" name="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895</Words>
  <Application>Microsoft Office PowerPoint</Application>
  <PresentationFormat>Geniş ekran</PresentationFormat>
  <Paragraphs>163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Myriad Pro</vt:lpstr>
      <vt:lpstr>MyriD PRO</vt:lpstr>
      <vt:lpstr>Özel Tasarım</vt:lpstr>
      <vt:lpstr>2_Özel Tasarım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Harun Kalencisali</dc:creator>
  <cp:lastModifiedBy>gizemyeniten@posta.mu.edu.tr</cp:lastModifiedBy>
  <cp:revision>16</cp:revision>
  <dcterms:created xsi:type="dcterms:W3CDTF">2024-02-20T11:00:27Z</dcterms:created>
  <dcterms:modified xsi:type="dcterms:W3CDTF">2026-01-20T18:20:58Z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id_classification_unclassified=0ef0d4bf-59b8-4ae6-bbc0-fafde041157b</vt:lpwstr>
  </property>
  <property fmtid="{D5CDD505-2E9C-101B-9397-08002B2CF9AE}" pid="3" name="geodilabeluser">
    <vt:lpwstr>user=38242872826</vt:lpwstr>
  </property>
  <property fmtid="{D5CDD505-2E9C-101B-9397-08002B2CF9AE}" pid="4" name="geodilabeltime">
    <vt:lpwstr>datetime=2025-08-11T07:00:02.046Z</vt:lpwstr>
  </property>
</Properties>
</file>